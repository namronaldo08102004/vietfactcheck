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4"/>
  </p:sldMasterIdLst>
  <p:notesMasterIdLst>
    <p:notesMasterId r:id="rId42"/>
  </p:notesMasterIdLst>
  <p:sldIdLst>
    <p:sldId id="256" r:id="rId5"/>
    <p:sldId id="258" r:id="rId6"/>
    <p:sldId id="260" r:id="rId7"/>
    <p:sldId id="339" r:id="rId8"/>
    <p:sldId id="338" r:id="rId9"/>
    <p:sldId id="340" r:id="rId10"/>
    <p:sldId id="341" r:id="rId11"/>
    <p:sldId id="351" r:id="rId12"/>
    <p:sldId id="370" r:id="rId13"/>
    <p:sldId id="352" r:id="rId14"/>
    <p:sldId id="342" r:id="rId15"/>
    <p:sldId id="375" r:id="rId16"/>
    <p:sldId id="343" r:id="rId17"/>
    <p:sldId id="365" r:id="rId18"/>
    <p:sldId id="366" r:id="rId19"/>
    <p:sldId id="344" r:id="rId20"/>
    <p:sldId id="367" r:id="rId21"/>
    <p:sldId id="372" r:id="rId22"/>
    <p:sldId id="368" r:id="rId23"/>
    <p:sldId id="369" r:id="rId24"/>
    <p:sldId id="371" r:id="rId25"/>
    <p:sldId id="373" r:id="rId26"/>
    <p:sldId id="374" r:id="rId27"/>
    <p:sldId id="347" r:id="rId28"/>
    <p:sldId id="348" r:id="rId29"/>
    <p:sldId id="358" r:id="rId30"/>
    <p:sldId id="353" r:id="rId31"/>
    <p:sldId id="359" r:id="rId32"/>
    <p:sldId id="360" r:id="rId33"/>
    <p:sldId id="354" r:id="rId34"/>
    <p:sldId id="361" r:id="rId35"/>
    <p:sldId id="362" r:id="rId36"/>
    <p:sldId id="363" r:id="rId37"/>
    <p:sldId id="364" r:id="rId38"/>
    <p:sldId id="355" r:id="rId39"/>
    <p:sldId id="356" r:id="rId40"/>
    <p:sldId id="334" r:id="rId41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43"/>
    </p:embeddedFont>
    <p:embeddedFont>
      <p:font typeface="Ebrima" panose="02000000000000000000" pitchFamily="2" charset="0"/>
      <p:regular r:id="rId44"/>
      <p:bold r:id="rId45"/>
    </p:embeddedFont>
    <p:embeddedFont>
      <p:font typeface="Epilogue" panose="020B0604020202020204" charset="0"/>
      <p:regular r:id="rId46"/>
      <p:bold r:id="rId47"/>
      <p:italic r:id="rId48"/>
      <p:boldItalic r:id="rId49"/>
    </p:embeddedFont>
    <p:embeddedFont>
      <p:font typeface="Nunito Light" pitchFamily="2" charset="0"/>
      <p:regular r:id="rId50"/>
      <p:italic r:id="rId51"/>
    </p:embeddedFont>
    <p:embeddedFont>
      <p:font typeface="Raleway" pitchFamily="2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70F1D8-4E12-4B64-38D7-43B7D3C5D63F}" v="2" dt="2026-02-09T15:22:33.359"/>
    <p1510:client id="{33BCB8DA-01CD-9B79-7394-0A7B35EEDFB2}" v="371" dt="2026-02-09T15:21:35.281"/>
    <p1510:client id="{B616D7AD-73E8-452E-BE7B-7B06D75E1C12}" v="3486" dt="2026-02-09T15:45:20.426"/>
  </p1510:revLst>
</p1510:revInfo>
</file>

<file path=ppt/tableStyles.xml><?xml version="1.0" encoding="utf-8"?>
<a:tblStyleLst xmlns:a="http://schemas.openxmlformats.org/drawingml/2006/main" def="{39BA2641-D294-400E-9163-D9D63B1CB30C}">
  <a:tblStyle styleId="{39BA2641-D294-400E-9163-D9D63B1CB30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499BFD5-4C6B-460D-90AC-877BFBC0717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27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font" Target="fonts/font1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4.fntdata"/><Relationship Id="rId59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font" Target="fonts/font1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7.fntdata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6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font" Target="fonts/font9.fntdata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9926FA52-50C5-613B-3780-C53A275ED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C9BE9EA5-3BE1-464A-EF8A-389926AA96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AC2DC879-6F76-3B56-0BD1-50AF30DAD8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3510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AE87F137-6610-BD6F-6778-F7F3EAA0C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E16C12F8-F434-D621-5A8C-22EF2297BD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36C3E550-F9B1-4894-56CA-50AC44A314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0082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7B2FCB60-E88F-3664-F36A-5B4A9CE27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6A2D771E-3B69-699E-D91D-FDFC8D361E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1EB196E0-7E3A-6E28-0996-89D62F8C12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64873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D97BEB9D-9B7A-617D-9997-CD5CFC999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46EA68DF-E171-E59F-6009-C17CC449F4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F1B1DFF5-3760-F949-00EB-2B64EB9653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5069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94C22CDC-C3EA-65CC-6D9B-1432FD1B9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9E478688-1ED5-6180-5C81-FD17D21444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7B1B85D0-BACF-472F-8237-11CBE90BB3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430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DA68B817-7816-F97A-6F72-7C980867D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3CCB048C-0F3F-8935-7952-4606D7A986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829335FD-3C73-BFA2-EE24-DDCEBD7F9D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83016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50DF2830-B393-4BAB-44B1-0106AA660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E5F68B8F-4817-7245-31EE-4A12E9443D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2DB59C16-2A0D-06D9-87B9-7EDA9D2ECD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3662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21F4109C-5421-A6DC-3603-451A9378F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31CFAA89-4AFB-5C65-9B8A-C5B63BF695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3BF00A45-AAC9-F77E-B67E-466C216953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69942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78A7A842-7B9B-3D0E-7B9B-15552F9DC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B330F939-49F9-B7F3-B641-92F63B9441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D393BA35-1091-6B25-0460-5587B68637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41489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F74B19D5-B483-8317-DA4A-E4CE2F7C9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CC0FDE03-10CF-A3A7-F90E-93B72EB099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04D4ADEA-1B45-46AC-2570-392A05667A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57931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4DCABDEC-5C3F-BBF2-780C-75996BD52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C1ABE46C-9B55-7103-BFC9-2B7AAF1E9F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7E2EBCF0-1123-2B3C-9031-FD8FC8B0B5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32371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BC9C504C-9B03-373D-FCFC-4CEA2EA62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D0ECDC53-5C40-A39D-84C0-36C609FE38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A867CB37-CB3E-ABA5-13F2-553008F634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71468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775EEAD9-583E-A368-9ECC-AA55BED7C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0D270927-C5DD-1A36-6913-3AC55771A4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13C1416C-DA1F-8D4C-0C18-44C8BBBE45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81986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71D441BC-303A-FE64-1CAC-E01B809FB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FCF91A18-20D8-EE75-8C9E-87DB146C33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82FE3B25-8285-7140-F816-24CF505507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78256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57E7BD04-E83E-19D0-36AF-520EE19E6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7DC73272-5A71-8718-8119-03494D3A4D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BAC7F971-F158-F73D-F396-0FD151D915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01661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9BC2AE97-DA0C-758F-E51F-8A1EA4CDD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7E7DE9BB-D24B-A7C4-41FC-ACB350A5C2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1CB493E5-A397-290A-18D5-8F7967E7CD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89286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3F2D6987-2233-4D26-94D8-0EC4321AD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1D006B40-A2ED-CE5A-7674-0A073D5233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EEDB23AF-38B8-393C-11BC-F93E7E16C3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61294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9AECF154-A34C-9DEC-B01F-ADB8EE211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D0B41708-8ADF-9ED5-A44F-1F59E2B509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C27D3F03-1303-181E-BA16-86DF9549F9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7491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4A6C0CF1-C482-6E10-5A4D-E57EF1D5E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D4C14590-8B2E-4A1C-30E5-0C53C48DB4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6EE69752-19C2-CCC5-7869-27FD7ACE95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6970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1E1279EF-D510-AC8F-DD16-3BB7F588A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6FADAF2F-3C55-E00C-B097-4E08330A81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EEC60780-89B8-5575-AAE2-17E477125B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95221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3549D11C-976E-FB52-D793-BCF95F996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8E9A6506-7816-E6EB-B984-C1CE72BD12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D8D52BBA-130B-AC5D-F20F-D9A6F9636C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41405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8511A564-95DE-2787-6961-2DE72EF78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9A10BF84-1D5B-A69C-97B7-121E170B92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040AA355-6862-C8C8-ACF9-A71711B863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35896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58A6C849-A7F2-3EDF-4549-45791E342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3B4E7030-A806-C123-1588-E3BEAFC925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868808E1-8CEE-8BC6-3DE2-5DCF05A521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10860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D62B1927-5050-1E76-1761-7016615DD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A798789F-7E57-97E8-12B6-8C0462F602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EF37A436-BEC7-8A9E-A526-0400CB777E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00608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0E601ED6-2689-85BD-F72E-50004FA41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9D4D480B-AB8C-9E45-79BD-C8703A9578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A5F17CD7-CF5C-B4F2-3165-B8F2AE2EE3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89484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64965A85-F4AB-034E-D2F6-266C757E2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921CD36E-BA8E-B793-2D71-A042C3EFBD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6099CF8B-39BF-F2D8-7283-90655F5A20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03318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D0EB6F52-FFFE-D57B-882D-913F140DC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95CE8882-A89B-509F-EF32-B6BDA3FD1C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7B2F696E-9863-5F79-E8DA-3C71AEE9DC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97479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1E83D548-CC49-5069-7621-69697ABE8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3FF9F233-2B23-0B79-7DA9-F32DB4F92E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31187544-8B3D-92A0-EFA2-8762D69736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99822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89AF084C-DF73-FD25-C167-43BE223B4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459134DB-2091-FE36-3FBF-003D095F53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7F531781-6E98-EFE6-A728-E7E942C8C5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28365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F31D421B-5055-4820-E6C1-BBB40727E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53FB8888-2BF6-2A31-4CB9-30FF98CE29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E66041E7-61CF-A5FD-C56A-AD644EBF4F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41586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F11169C0-6C7D-AD61-79DC-C92289F33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FAFFC513-E42E-FC78-8FCE-BEABE5C43C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14A7BAC8-CF4B-001A-7E54-F6F4162C52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24098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4E7F7340-9B71-2EE0-3E86-4FB7C773E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95F26A36-C74B-4480-D11E-D52CE66B30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8F05A0EB-1944-1B95-8855-3C59BEA6E8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69939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B69F1D9E-F8DE-1979-968B-6023A2C70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1F0CE50A-AE80-1082-3E56-A26BDA002B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58055C73-6155-B3A8-9029-18CA3AF188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4685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>
          <a:extLst>
            <a:ext uri="{FF2B5EF4-FFF2-40B4-BE49-F238E27FC236}">
              <a16:creationId xmlns:a16="http://schemas.microsoft.com/office/drawing/2014/main" id="{DCECA0B3-A872-E043-E39F-9BA969695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4dfce81f19_0_45:notes">
            <a:extLst>
              <a:ext uri="{FF2B5EF4-FFF2-40B4-BE49-F238E27FC236}">
                <a16:creationId xmlns:a16="http://schemas.microsoft.com/office/drawing/2014/main" id="{98ABCBF7-FE82-D319-5408-354F5FFAAA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4dfce81f19_0_45:notes">
            <a:extLst>
              <a:ext uri="{FF2B5EF4-FFF2-40B4-BE49-F238E27FC236}">
                <a16:creationId xmlns:a16="http://schemas.microsoft.com/office/drawing/2014/main" id="{93F6278A-04A5-6E09-56A0-2530DB99E9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2138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30700FC-D7FC-89F0-3C6F-C30F92498AAC}"/>
              </a:ext>
            </a:extLst>
          </p:cNvPr>
          <p:cNvSpPr/>
          <p:nvPr userDrawn="1"/>
        </p:nvSpPr>
        <p:spPr>
          <a:xfrm>
            <a:off x="-13546" y="-9436"/>
            <a:ext cx="9166728" cy="4827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Google Shape;6;p1">
            <a:extLst>
              <a:ext uri="{FF2B5EF4-FFF2-40B4-BE49-F238E27FC236}">
                <a16:creationId xmlns:a16="http://schemas.microsoft.com/office/drawing/2014/main" id="{9A41272F-C119-8901-3A6C-63C10B8C1B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4719"/>
            <a:ext cx="7717500" cy="47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2400" b="1">
                <a:solidFill>
                  <a:schemeClr val="bg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9CB062-1408-06A5-8343-7E0499ACC4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6906" y="-400888"/>
            <a:ext cx="2896239" cy="1265656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CD620-2189-D72F-8462-A2DC1B040A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Truth Sleuths</a:t>
            </a:r>
            <a:endParaRPr lang="en-US" b="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2F6E9-C2F1-4C62-BD4F-700F0E8943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5C6D44A2-FB5A-4C32-BB14-95F7E6846750}" type="slidenum">
              <a:rPr lang="en-US" smtClean="0"/>
              <a:pPr/>
              <a:t>‹#›</a:t>
            </a:fld>
            <a:r>
              <a:rPr lang="en-US"/>
              <a:t>/33</a:t>
            </a:r>
            <a:endParaRPr lang="en-US" b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B57326-4F67-80AC-FB65-265FBC3F2CC4}"/>
              </a:ext>
            </a:extLst>
          </p:cNvPr>
          <p:cNvSpPr/>
          <p:nvPr userDrawn="1"/>
        </p:nvSpPr>
        <p:spPr>
          <a:xfrm>
            <a:off x="-11364" y="-9436"/>
            <a:ext cx="9178092" cy="4827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3F154F-5156-8060-AC1C-E2700E671E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6906" y="-400888"/>
            <a:ext cx="2896239" cy="126565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75D92-E050-9E3E-10FF-E499C8BEFE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Truth Sleuths</a:t>
            </a:r>
            <a:endParaRPr lang="en-US" b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C8BB87-4F1E-30B4-2E43-FADD62DDD5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5C6D44A2-FB5A-4C32-BB14-95F7E6846750}" type="slidenum">
              <a:rPr lang="en-US" smtClean="0"/>
              <a:pPr/>
              <a:t>‹#›</a:t>
            </a:fld>
            <a:r>
              <a:rPr lang="en-US"/>
              <a:t>/33</a:t>
            </a:r>
            <a:endParaRPr lang="en-US" b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720000" y="190129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bg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C07E67-0169-F5D3-B1FA-330EC9A9EE5B}"/>
              </a:ext>
            </a:extLst>
          </p:cNvPr>
          <p:cNvSpPr/>
          <p:nvPr userDrawn="1"/>
        </p:nvSpPr>
        <p:spPr>
          <a:xfrm>
            <a:off x="-11364" y="-9436"/>
            <a:ext cx="9178092" cy="4827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A4373E-55FE-BCA4-4866-068E8234F9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6906" y="-400888"/>
            <a:ext cx="2896239" cy="126565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55CAB-FBDB-DE8D-E100-6F49011DF7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Truth Sleuths</a:t>
            </a:r>
            <a:endParaRPr lang="en-US" b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282EC3D-1D5E-7096-E656-1702BB162B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5C6D44A2-FB5A-4C32-BB14-95F7E6846750}" type="slidenum">
              <a:rPr lang="en-US" smtClean="0"/>
              <a:pPr/>
              <a:t>‹#›</a:t>
            </a:fld>
            <a:r>
              <a:rPr lang="en-US"/>
              <a:t>/33</a:t>
            </a:r>
            <a:endParaRPr lang="en-US" b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CB5724-91CC-0F3C-481B-26C9603314FA}"/>
              </a:ext>
            </a:extLst>
          </p:cNvPr>
          <p:cNvSpPr/>
          <p:nvPr userDrawn="1"/>
        </p:nvSpPr>
        <p:spPr>
          <a:xfrm>
            <a:off x="-11364" y="-9436"/>
            <a:ext cx="9178092" cy="4827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972A1B41-C6D5-4314-C0F0-86166D3FA7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5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>
              <a:defRPr sz="1200" b="1">
                <a:solidFill>
                  <a:schemeClr val="bg1"/>
                </a:solidFill>
                <a:latin typeface="Epilogue" panose="020B0604020202020204" charset="0"/>
              </a:defRPr>
            </a:lvl1pPr>
          </a:lstStyle>
          <a:p>
            <a:pPr algn="l"/>
            <a:endParaRPr lang="en-US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E5DB48F1-8307-C1A8-96A3-4A7AB6312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Page </a:t>
            </a:r>
            <a:fld id="{5C6D44A2-FB5A-4C32-BB14-95F7E6846750}" type="slidenum">
              <a:rPr lang="en-US" smtClean="0"/>
              <a:pPr algn="r"/>
              <a:t>‹#›</a:t>
            </a:fld>
            <a:r>
              <a:rPr lang="en-US"/>
              <a:t>/33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F0979A-D646-DF94-798E-852EDD3542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6906" y="-400888"/>
            <a:ext cx="2896239" cy="12656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userDrawn="1">
  <p:cSld name="MAIN_POIN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36EAAB9-106B-4FBE-8DF2-858AF5BA1DD2}"/>
              </a:ext>
            </a:extLst>
          </p:cNvPr>
          <p:cNvSpPr/>
          <p:nvPr userDrawn="1"/>
        </p:nvSpPr>
        <p:spPr>
          <a:xfrm>
            <a:off x="-11364" y="-9436"/>
            <a:ext cx="9178092" cy="4827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84C5A694-2E7A-D7AB-2399-53E31B933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50" y="48688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>
              <a:defRPr sz="1200" b="1">
                <a:solidFill>
                  <a:schemeClr val="bg1"/>
                </a:solidFill>
                <a:latin typeface="Epilogue" panose="020B0604020202020204" charset="0"/>
              </a:defRPr>
            </a:lvl1pPr>
          </a:lstStyle>
          <a:p>
            <a:pPr algn="l"/>
            <a:endParaRPr lang="en-US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77DE53A4-21A1-77DB-D505-AD1DBFE62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Page </a:t>
            </a:r>
            <a:fld id="{5C6D44A2-FB5A-4C32-BB14-95F7E6846750}" type="slidenum">
              <a:rPr lang="en-US" smtClean="0"/>
              <a:pPr algn="r"/>
              <a:t>‹#›</a:t>
            </a:fld>
            <a:r>
              <a:rPr lang="en-US"/>
              <a:t>/33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536F8D-D139-6645-C64D-BA5ACD5643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6906" y="-400888"/>
            <a:ext cx="2896239" cy="12656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FA3F2B-0BDF-A4DA-9CA1-8196F550B799}"/>
              </a:ext>
            </a:extLst>
          </p:cNvPr>
          <p:cNvSpPr/>
          <p:nvPr userDrawn="1"/>
        </p:nvSpPr>
        <p:spPr>
          <a:xfrm>
            <a:off x="-11364" y="-9436"/>
            <a:ext cx="9178092" cy="4827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FCE35B0B-CC2A-F098-6700-604C5CFAE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50" y="48688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>
              <a:defRPr sz="1200" b="1">
                <a:solidFill>
                  <a:schemeClr val="bg1"/>
                </a:solidFill>
                <a:latin typeface="Epilogue" panose="020B0604020202020204" charset="0"/>
              </a:defRPr>
            </a:lvl1pPr>
          </a:lstStyle>
          <a:p>
            <a:pPr algn="l"/>
            <a:endParaRPr lang="en-US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F2FB39C-3248-B517-96A5-2A1E450DF8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Page </a:t>
            </a:r>
            <a:fld id="{5C6D44A2-FB5A-4C32-BB14-95F7E6846750}" type="slidenum">
              <a:rPr lang="en-US" smtClean="0"/>
              <a:pPr algn="r"/>
              <a:t>‹#›</a:t>
            </a:fld>
            <a:r>
              <a:rPr lang="en-US"/>
              <a:t>/33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C990E6-0B44-AFE0-987D-F0CEB037D8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6906" y="-400888"/>
            <a:ext cx="2896239" cy="12656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userDrawn="1">
  <p:cSld name="CAPTION_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A1D544-A8CA-6A07-6A5B-A63CA752EBF1}"/>
              </a:ext>
            </a:extLst>
          </p:cNvPr>
          <p:cNvSpPr/>
          <p:nvPr userDrawn="1"/>
        </p:nvSpPr>
        <p:spPr>
          <a:xfrm>
            <a:off x="-11364" y="-9436"/>
            <a:ext cx="9178092" cy="4827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AC3E010C-40E8-0CB3-CC96-8F09501AE9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50" y="48688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>
              <a:defRPr sz="1200" b="1">
                <a:solidFill>
                  <a:schemeClr val="bg1"/>
                </a:solidFill>
                <a:latin typeface="Epilogue" panose="020B0604020202020204" charset="0"/>
              </a:defRPr>
            </a:lvl1pPr>
          </a:lstStyle>
          <a:p>
            <a:pPr algn="l"/>
            <a:endParaRPr lang="en-US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A3CED90-E665-E508-53F0-4055568387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Page </a:t>
            </a:r>
            <a:fld id="{5C6D44A2-FB5A-4C32-BB14-95F7E6846750}" type="slidenum">
              <a:rPr lang="en-US" smtClean="0"/>
              <a:pPr algn="r"/>
              <a:t>‹#›</a:t>
            </a:fld>
            <a:r>
              <a:rPr lang="en-US"/>
              <a:t>/33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1F93D0-ACCA-EB13-78C0-212CBE7009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6906" y="-400888"/>
            <a:ext cx="2896239" cy="12656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19CAAD-20DE-4978-5F03-0DB6669557E0}"/>
              </a:ext>
            </a:extLst>
          </p:cNvPr>
          <p:cNvSpPr/>
          <p:nvPr userDrawn="1"/>
        </p:nvSpPr>
        <p:spPr>
          <a:xfrm>
            <a:off x="-11364" y="-9436"/>
            <a:ext cx="9178092" cy="4827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D4C1A0-ED69-E0ED-5C6D-EC6223CBEE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50" y="48688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>
              <a:defRPr sz="1200" b="1">
                <a:solidFill>
                  <a:schemeClr val="bg1"/>
                </a:solidFill>
                <a:latin typeface="Epilogue" panose="020B0604020202020204" charset="0"/>
              </a:defRPr>
            </a:lvl1pPr>
          </a:lstStyle>
          <a:p>
            <a:pPr algn="l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1FEA4B-751D-4A53-6B4F-B63E62C21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Page </a:t>
            </a:r>
            <a:fld id="{5C6D44A2-FB5A-4C32-BB14-95F7E6846750}" type="slidenum">
              <a:rPr lang="en-US" smtClean="0"/>
              <a:pPr algn="r"/>
              <a:t>‹#›</a:t>
            </a:fld>
            <a:r>
              <a:rPr lang="en-US"/>
              <a:t>/33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A24D08-E2CE-AD96-5E0E-AB2B1AB445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6906" y="-400888"/>
            <a:ext cx="2896239" cy="12656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2" name="Google Shape;242;p13"/>
          <p:cNvSpPr txBox="1">
            <a:spLocks noGrp="1"/>
          </p:cNvSpPr>
          <p:nvPr>
            <p:ph type="title" idx="2" hasCustomPrompt="1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3" name="Google Shape;243;p13"/>
          <p:cNvSpPr txBox="1">
            <a:spLocks noGrp="1"/>
          </p:cNvSpPr>
          <p:nvPr>
            <p:ph type="title" idx="3" hasCustomPrompt="1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4" name="Google Shape;244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5" name="Google Shape;245;p13"/>
          <p:cNvSpPr txBox="1">
            <a:spLocks noGrp="1"/>
          </p:cNvSpPr>
          <p:nvPr>
            <p:ph type="title" idx="5" hasCustomPrompt="1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" name="Google Shape;246;p13"/>
          <p:cNvSpPr txBox="1">
            <a:spLocks noGrp="1"/>
          </p:cNvSpPr>
          <p:nvPr>
            <p:ph type="title" idx="6" hasCustomPrompt="1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>
            <a:spLocks noGrp="1"/>
          </p:cNvSpPr>
          <p:nvPr>
            <p:ph type="title" idx="7" hasCustomPrompt="1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1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9" name="Google Shape;249;p13"/>
          <p:cNvSpPr txBox="1">
            <a:spLocks noGrp="1"/>
          </p:cNvSpPr>
          <p:nvPr>
            <p:ph type="subTitle" idx="8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0" name="Google Shape;250;p13"/>
          <p:cNvSpPr txBox="1">
            <a:spLocks noGrp="1"/>
          </p:cNvSpPr>
          <p:nvPr>
            <p:ph type="subTitle" idx="9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1" name="Google Shape;251;p13"/>
          <p:cNvSpPr txBox="1">
            <a:spLocks noGrp="1"/>
          </p:cNvSpPr>
          <p:nvPr>
            <p:ph type="subTitle" idx="13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2" name="Google Shape;252;p13"/>
          <p:cNvSpPr txBox="1">
            <a:spLocks noGrp="1"/>
          </p:cNvSpPr>
          <p:nvPr>
            <p:ph type="subTitle" idx="14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subTitle" idx="15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339" name="Google Shape;339;p13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340" name="Google Shape;340;p13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3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23279B7A-E043-B14B-F490-3E1CA855826F}"/>
              </a:ext>
            </a:extLst>
          </p:cNvPr>
          <p:cNvSpPr/>
          <p:nvPr userDrawn="1"/>
        </p:nvSpPr>
        <p:spPr>
          <a:xfrm>
            <a:off x="-11364" y="-9436"/>
            <a:ext cx="9178092" cy="4827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933BD004-0057-C3AB-3AB5-B2C19438366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-50" y="48688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>
              <a:defRPr sz="1200" b="1">
                <a:solidFill>
                  <a:schemeClr val="bg1"/>
                </a:solidFill>
                <a:latin typeface="Epilogue" panose="020B0604020202020204" charset="0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B3BBB0C1-4516-5576-FC70-B1225D35C3E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8660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Page </a:t>
            </a:r>
            <a:fld id="{5C6D44A2-FB5A-4C32-BB14-95F7E6846750}" type="slidenum">
              <a:rPr lang="en-US" smtClean="0"/>
              <a:pPr algn="r"/>
              <a:t>‹#›</a:t>
            </a:fld>
            <a:r>
              <a:rPr lang="en-US"/>
              <a:t>/33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FB47F3-529E-BE4C-9A0F-412A99FE65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6906" y="-400888"/>
            <a:ext cx="2896239" cy="12656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_1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 txBox="1">
            <a:spLocks noGrp="1"/>
          </p:cNvSpPr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7" name="Google Shape;357;p15"/>
          <p:cNvSpPr txBox="1">
            <a:spLocks noGrp="1"/>
          </p:cNvSpPr>
          <p:nvPr>
            <p:ph type="subTitle" idx="1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598B97-654E-83D8-AB7B-40657C960A85}"/>
              </a:ext>
            </a:extLst>
          </p:cNvPr>
          <p:cNvSpPr/>
          <p:nvPr userDrawn="1"/>
        </p:nvSpPr>
        <p:spPr>
          <a:xfrm>
            <a:off x="-11364" y="-9436"/>
            <a:ext cx="9178092" cy="4827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079277-72F1-D5B0-FEED-7E5785FB55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50" y="48688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>
              <a:defRPr sz="1200" b="1">
                <a:solidFill>
                  <a:schemeClr val="bg1"/>
                </a:solidFill>
                <a:latin typeface="Epilogue" panose="020B0604020202020204" charset="0"/>
              </a:defRPr>
            </a:lvl1pPr>
          </a:lstStyle>
          <a:p>
            <a:pPr algn="l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25A07A-CD60-814A-B681-754D4C411A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Page </a:t>
            </a:r>
            <a:fld id="{5C6D44A2-FB5A-4C32-BB14-95F7E6846750}" type="slidenum">
              <a:rPr lang="en-US" smtClean="0"/>
              <a:pPr algn="r"/>
              <a:t>‹#›</a:t>
            </a:fld>
            <a:r>
              <a:rPr lang="en-US"/>
              <a:t>/33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98FB10-A018-168D-6EDD-3C95B7CC04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6906" y="-400888"/>
            <a:ext cx="2896239" cy="12656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FB239B9-F00A-2C07-5AE1-D48156870205}"/>
              </a:ext>
            </a:extLst>
          </p:cNvPr>
          <p:cNvSpPr/>
          <p:nvPr userDrawn="1"/>
        </p:nvSpPr>
        <p:spPr>
          <a:xfrm>
            <a:off x="-11364" y="-9436"/>
            <a:ext cx="9178092" cy="4827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101021-5606-615D-CDEF-A8E55438F7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50" y="48688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>
              <a:defRPr sz="1200" b="1">
                <a:solidFill>
                  <a:schemeClr val="bg1"/>
                </a:solidFill>
                <a:latin typeface="Epilogue" panose="020B0604020202020204" charset="0"/>
              </a:defRPr>
            </a:lvl1pPr>
          </a:lstStyle>
          <a:p>
            <a:pPr algn="l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A9B961-9F47-1EEA-3994-83979B85A9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Page </a:t>
            </a:r>
            <a:fld id="{5C6D44A2-FB5A-4C32-BB14-95F7E6846750}" type="slidenum">
              <a:rPr lang="en-US" smtClean="0"/>
              <a:pPr algn="r"/>
              <a:t>‹#›</a:t>
            </a:fld>
            <a:r>
              <a:rPr lang="en-US"/>
              <a:t>/33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D28DFB-D210-490D-DC75-2E0BC9AD33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6906" y="-400888"/>
            <a:ext cx="2896239" cy="12656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E5E247-2FE8-0118-E480-7FD03F3C53C3}"/>
              </a:ext>
            </a:extLst>
          </p:cNvPr>
          <p:cNvSpPr/>
          <p:nvPr userDrawn="1"/>
        </p:nvSpPr>
        <p:spPr>
          <a:xfrm>
            <a:off x="-11364" y="-9436"/>
            <a:ext cx="9178092" cy="4827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97317-5C3B-BBAE-F241-72BB2730B7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50" y="48688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ctr">
              <a:defRPr sz="1200" b="1">
                <a:solidFill>
                  <a:schemeClr val="bg1"/>
                </a:solidFill>
                <a:latin typeface="Epilogue" panose="020B0604020202020204" charset="0"/>
              </a:defRPr>
            </a:lvl1pPr>
          </a:lstStyle>
          <a:p>
            <a:pPr algn="l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81A63-058A-3C80-6EFA-EF8435F22D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Page </a:t>
            </a:r>
            <a:fld id="{5C6D44A2-FB5A-4C32-BB14-95F7E6846750}" type="slidenum">
              <a:rPr lang="en-US" smtClean="0"/>
              <a:pPr algn="r"/>
              <a:t>‹#›</a:t>
            </a:fld>
            <a:r>
              <a:rPr lang="en-US"/>
              <a:t>/33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73529F-7E8E-CAB0-123D-6C099D19C0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6906" y="-400888"/>
            <a:ext cx="2896239" cy="126565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9BFC59-2F2E-677E-9583-A51F64639FB0}"/>
              </a:ext>
            </a:extLst>
          </p:cNvPr>
          <p:cNvSpPr/>
          <p:nvPr userDrawn="1"/>
        </p:nvSpPr>
        <p:spPr>
          <a:xfrm>
            <a:off x="-50" y="4868863"/>
            <a:ext cx="9144000" cy="27463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0C2C2CF4-832A-65FC-ED5E-13DFF618D430}"/>
              </a:ext>
            </a:extLst>
          </p:cNvPr>
          <p:cNvSpPr txBox="1">
            <a:spLocks/>
          </p:cNvSpPr>
          <p:nvPr userDrawn="1"/>
        </p:nvSpPr>
        <p:spPr>
          <a:xfrm>
            <a:off x="3123830" y="4868862"/>
            <a:ext cx="2896239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>
                <a:solidFill>
                  <a:schemeClr val="bg1"/>
                </a:solidFill>
                <a:latin typeface="Epilogue" panose="020B0604020202020204" charset="0"/>
              </a:rPr>
              <a:t>Khai </a:t>
            </a:r>
            <a:r>
              <a:rPr lang="en-US" b="1" err="1">
                <a:solidFill>
                  <a:schemeClr val="bg1"/>
                </a:solidFill>
                <a:latin typeface="Epilogue" panose="020B0604020202020204" charset="0"/>
              </a:rPr>
              <a:t>thác</a:t>
            </a:r>
            <a:r>
              <a:rPr lang="en-US" b="1">
                <a:solidFill>
                  <a:schemeClr val="bg1"/>
                </a:solidFill>
                <a:latin typeface="Epilogue" panose="020B0604020202020204" charset="0"/>
              </a:rPr>
              <a:t> </a:t>
            </a:r>
            <a:r>
              <a:rPr lang="en-US" b="1" err="1">
                <a:solidFill>
                  <a:schemeClr val="bg1"/>
                </a:solidFill>
                <a:latin typeface="Epilogue" panose="020B0604020202020204" charset="0"/>
              </a:rPr>
              <a:t>ngữ</a:t>
            </a:r>
            <a:r>
              <a:rPr lang="en-US" b="1">
                <a:solidFill>
                  <a:schemeClr val="bg1"/>
                </a:solidFill>
                <a:latin typeface="Epilogue" panose="020B0604020202020204" charset="0"/>
              </a:rPr>
              <a:t> </a:t>
            </a:r>
            <a:r>
              <a:rPr lang="en-US" b="1" err="1">
                <a:solidFill>
                  <a:schemeClr val="bg1"/>
                </a:solidFill>
                <a:latin typeface="Epilogue" panose="020B0604020202020204" charset="0"/>
              </a:rPr>
              <a:t>liệu</a:t>
            </a:r>
            <a:r>
              <a:rPr lang="en-US" b="1">
                <a:solidFill>
                  <a:schemeClr val="bg1"/>
                </a:solidFill>
                <a:latin typeface="Epilogue" panose="020B0604020202020204" charset="0"/>
              </a:rPr>
              <a:t> </a:t>
            </a:r>
            <a:r>
              <a:rPr lang="en-US" b="1" err="1">
                <a:solidFill>
                  <a:schemeClr val="bg1"/>
                </a:solidFill>
                <a:latin typeface="Epilogue" panose="020B0604020202020204" charset="0"/>
              </a:rPr>
              <a:t>nâng</a:t>
            </a:r>
            <a:r>
              <a:rPr lang="en-US" b="1">
                <a:solidFill>
                  <a:schemeClr val="bg1"/>
                </a:solidFill>
                <a:latin typeface="Epilogue" panose="020B0604020202020204" charset="0"/>
              </a:rPr>
              <a:t> </a:t>
            </a:r>
            <a:r>
              <a:rPr lang="en-US" b="1" err="1">
                <a:solidFill>
                  <a:schemeClr val="bg1"/>
                </a:solidFill>
                <a:latin typeface="Epilogue" panose="020B0604020202020204" charset="0"/>
              </a:rPr>
              <a:t>cao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1351AF61-641C-790E-FC61-9FC452365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  <a:latin typeface="Epilogue" panose="020B0604020202020204" charset="0"/>
              </a:defRPr>
            </a:lvl1pPr>
          </a:lstStyle>
          <a:p>
            <a:r>
              <a:rPr lang="en-US"/>
              <a:t>Page </a:t>
            </a:r>
            <a:fld id="{5C6D44A2-FB5A-4C32-BB14-95F7E6846750}" type="slidenum">
              <a:rPr lang="en-US" smtClean="0"/>
              <a:pPr/>
              <a:t>‹#›</a:t>
            </a:fld>
            <a:r>
              <a:rPr lang="en-US"/>
              <a:t>/33</a:t>
            </a:r>
            <a:endParaRPr lang="en-US" b="1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27278A2-0364-2E5D-E6BF-C0AAA6E2A3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100" y="4868861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  <a:latin typeface="Epilogue" panose="020B0604020202020204" charset="0"/>
              </a:defRPr>
            </a:lvl1pPr>
          </a:lstStyle>
          <a:p>
            <a:r>
              <a:rPr lang="en-US"/>
              <a:t>Truth Sleuths</a:t>
            </a:r>
            <a:endParaRPr lang="en-US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83AA4F-FFF2-E322-9976-1D6C87AF208D}"/>
              </a:ext>
            </a:extLst>
          </p:cNvPr>
          <p:cNvSpPr/>
          <p:nvPr userDrawn="1"/>
        </p:nvSpPr>
        <p:spPr>
          <a:xfrm>
            <a:off x="-13546" y="-9436"/>
            <a:ext cx="9166728" cy="4827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oogle Shape;6;p1">
            <a:extLst>
              <a:ext uri="{FF2B5EF4-FFF2-40B4-BE49-F238E27FC236}">
                <a16:creationId xmlns:a16="http://schemas.microsoft.com/office/drawing/2014/main" id="{CD28A138-93DE-7649-A64F-83E11876E989}"/>
              </a:ext>
            </a:extLst>
          </p:cNvPr>
          <p:cNvSpPr txBox="1">
            <a:spLocks/>
          </p:cNvSpPr>
          <p:nvPr userDrawn="1"/>
        </p:nvSpPr>
        <p:spPr>
          <a:xfrm>
            <a:off x="0" y="-4719"/>
            <a:ext cx="7717500" cy="47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2400" b="1" i="0" u="none" strike="noStrike" cap="none">
                <a:solidFill>
                  <a:schemeClr val="bg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D7A9DF-B954-6846-98BC-66D587C4A6E1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576906" y="-400888"/>
            <a:ext cx="2896239" cy="1265656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1" r:id="rId10"/>
    <p:sldLayoutId id="2147483669" r:id="rId11"/>
    <p:sldLayoutId id="2147483670" r:id="rId12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21E0D9-8120-965A-6308-EDE0A8C06B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+mj-lt"/>
              </a:rPr>
              <a:t> Trang </a:t>
            </a:r>
            <a:fld id="{5C6D44A2-FB5A-4C32-BB14-95F7E6846750}" type="slidenum">
              <a:rPr lang="en-US" dirty="0" smtClean="0">
                <a:latin typeface="+mj-lt"/>
              </a:rPr>
              <a:pPr/>
              <a:t>1</a:t>
            </a:fld>
            <a:r>
              <a:rPr lang="en-US">
                <a:latin typeface="+mj-lt"/>
              </a:rPr>
              <a:t>/37</a:t>
            </a:r>
          </a:p>
        </p:txBody>
      </p:sp>
      <p:sp>
        <p:nvSpPr>
          <p:cNvPr id="755" name="Google Shape;755;p28"/>
          <p:cNvSpPr txBox="1">
            <a:spLocks noGrp="1"/>
          </p:cNvSpPr>
          <p:nvPr>
            <p:ph type="title"/>
          </p:nvPr>
        </p:nvSpPr>
        <p:spPr>
          <a:xfrm>
            <a:off x="597255" y="1906027"/>
            <a:ext cx="7949487" cy="10218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US" sz="3000" err="1">
                <a:solidFill>
                  <a:srgbClr val="0070C0"/>
                </a:solidFill>
                <a:latin typeface="+mj-lt"/>
              </a:rPr>
              <a:t>VietFactCheck</a:t>
            </a:r>
            <a:r>
              <a:rPr lang="en-US" sz="3000">
                <a:solidFill>
                  <a:srgbClr val="0070C0"/>
                </a:solidFill>
                <a:latin typeface="+mj-lt"/>
              </a:rPr>
              <a:t>: </a:t>
            </a:r>
            <a:r>
              <a:rPr lang="en-US" sz="3000" err="1">
                <a:solidFill>
                  <a:srgbClr val="0070C0"/>
                </a:solidFill>
                <a:latin typeface="+mj-lt"/>
              </a:rPr>
              <a:t>Hệ</a:t>
            </a:r>
            <a:r>
              <a:rPr lang="en-US" sz="3000">
                <a:solidFill>
                  <a:srgbClr val="0070C0"/>
                </a:solidFill>
                <a:latin typeface="+mj-lt"/>
              </a:rPr>
              <a:t> </a:t>
            </a:r>
            <a:r>
              <a:rPr lang="en-US" sz="3000" err="1">
                <a:solidFill>
                  <a:srgbClr val="0070C0"/>
                </a:solidFill>
                <a:latin typeface="+mj-lt"/>
              </a:rPr>
              <a:t>thống</a:t>
            </a:r>
            <a:r>
              <a:rPr lang="en-US" sz="3000">
                <a:solidFill>
                  <a:srgbClr val="0070C0"/>
                </a:solidFill>
                <a:latin typeface="+mj-lt"/>
              </a:rPr>
              <a:t> </a:t>
            </a:r>
            <a:r>
              <a:rPr lang="en-US" sz="3000" err="1">
                <a:solidFill>
                  <a:srgbClr val="0070C0"/>
                </a:solidFill>
                <a:latin typeface="+mj-lt"/>
              </a:rPr>
              <a:t>kiểm</a:t>
            </a:r>
            <a:r>
              <a:rPr lang="en-US" sz="3000">
                <a:solidFill>
                  <a:srgbClr val="0070C0"/>
                </a:solidFill>
                <a:latin typeface="+mj-lt"/>
              </a:rPr>
              <a:t> </a:t>
            </a:r>
            <a:r>
              <a:rPr lang="en-US" sz="3000" err="1">
                <a:solidFill>
                  <a:srgbClr val="0070C0"/>
                </a:solidFill>
                <a:latin typeface="+mj-lt"/>
              </a:rPr>
              <a:t>chứng</a:t>
            </a:r>
            <a:r>
              <a:rPr lang="en-US" sz="3000">
                <a:solidFill>
                  <a:srgbClr val="0070C0"/>
                </a:solidFill>
                <a:latin typeface="+mj-lt"/>
              </a:rPr>
              <a:t> tin </a:t>
            </a:r>
            <a:r>
              <a:rPr lang="en-US" sz="3000" err="1">
                <a:solidFill>
                  <a:srgbClr val="0070C0"/>
                </a:solidFill>
                <a:latin typeface="+mj-lt"/>
              </a:rPr>
              <a:t>tức</a:t>
            </a:r>
            <a:r>
              <a:rPr lang="en-US" sz="3000">
                <a:solidFill>
                  <a:srgbClr val="0070C0"/>
                </a:solidFill>
                <a:latin typeface="+mj-lt"/>
              </a:rPr>
              <a:t> </a:t>
            </a:r>
            <a:r>
              <a:rPr lang="en-US" sz="3000" err="1">
                <a:solidFill>
                  <a:srgbClr val="0070C0"/>
                </a:solidFill>
                <a:latin typeface="+mj-lt"/>
              </a:rPr>
              <a:t>tiếng</a:t>
            </a:r>
            <a:r>
              <a:rPr lang="en-US" sz="3000">
                <a:solidFill>
                  <a:srgbClr val="0070C0"/>
                </a:solidFill>
                <a:latin typeface="+mj-lt"/>
              </a:rPr>
              <a:t> Việt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3DD3F2-779D-53A2-380A-5CAE68FAF27D}"/>
              </a:ext>
            </a:extLst>
          </p:cNvPr>
          <p:cNvSpPr txBox="1"/>
          <p:nvPr/>
        </p:nvSpPr>
        <p:spPr>
          <a:xfrm>
            <a:off x="466859" y="3037575"/>
            <a:ext cx="3744193" cy="102188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>
                <a:latin typeface="+mj-lt"/>
              </a:rPr>
              <a:t>Sinh </a:t>
            </a:r>
            <a:r>
              <a:rPr lang="en-US" b="1" err="1">
                <a:latin typeface="+mj-lt"/>
              </a:rPr>
              <a:t>viên</a:t>
            </a:r>
            <a:r>
              <a:rPr lang="en-US" b="1">
                <a:latin typeface="+mj-lt"/>
              </a:rPr>
              <a:t> </a:t>
            </a:r>
            <a:r>
              <a:rPr lang="en-US" b="1" err="1">
                <a:latin typeface="+mj-lt"/>
              </a:rPr>
              <a:t>thực</a:t>
            </a:r>
            <a:r>
              <a:rPr lang="en-US" b="1">
                <a:latin typeface="+mj-lt"/>
              </a:rPr>
              <a:t> </a:t>
            </a:r>
            <a:r>
              <a:rPr lang="en-US" b="1" err="1">
                <a:latin typeface="+mj-lt"/>
              </a:rPr>
              <a:t>hiện</a:t>
            </a:r>
            <a:endParaRPr lang="en-US" b="1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+mj-lt"/>
              </a:rPr>
              <a:t>22127390 - </a:t>
            </a:r>
            <a:r>
              <a:rPr lang="en-US" b="1" err="1">
                <a:latin typeface="+mj-lt"/>
              </a:rPr>
              <a:t>Nguyễn</a:t>
            </a:r>
            <a:r>
              <a:rPr lang="en-US" b="1">
                <a:latin typeface="+mj-lt"/>
              </a:rPr>
              <a:t> Văn Lê Bá Thành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latin typeface="+mj-lt"/>
              </a:rPr>
              <a:t>22127280 - Đoàn Đặng Phương Nam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B0FDBF-BF0C-C83B-3167-F8A520C5E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123" y="495272"/>
            <a:ext cx="1541753" cy="1541753"/>
          </a:xfrm>
          <a:prstGeom prst="rect">
            <a:avLst/>
          </a:prstGeom>
        </p:spPr>
      </p:pic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28BF3C9E-797C-13A1-395E-DBD345DEFFB2}"/>
              </a:ext>
            </a:extLst>
          </p:cNvPr>
          <p:cNvSpPr txBox="1">
            <a:spLocks/>
          </p:cNvSpPr>
          <p:nvPr/>
        </p:nvSpPr>
        <p:spPr>
          <a:xfrm>
            <a:off x="-51" y="110969"/>
            <a:ext cx="5342927" cy="274637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1" i="0" u="none" strike="noStrike" cap="none">
                <a:solidFill>
                  <a:schemeClr val="bg1"/>
                </a:solidFill>
                <a:latin typeface="Epilogue" panose="020B060402020202020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>
                <a:latin typeface="+mj-lt"/>
              </a:rPr>
              <a:t>Trường </a:t>
            </a:r>
            <a:r>
              <a:rPr lang="en-US" sz="1600" err="1">
                <a:latin typeface="+mj-lt"/>
              </a:rPr>
              <a:t>đại</a:t>
            </a:r>
            <a:r>
              <a:rPr lang="en-US" sz="1600">
                <a:latin typeface="+mj-lt"/>
              </a:rPr>
              <a:t> </a:t>
            </a:r>
            <a:r>
              <a:rPr lang="en-US" sz="1600" err="1">
                <a:latin typeface="+mj-lt"/>
              </a:rPr>
              <a:t>học</a:t>
            </a:r>
            <a:r>
              <a:rPr lang="en-US" sz="1600">
                <a:latin typeface="+mj-lt"/>
              </a:rPr>
              <a:t> Khoa </a:t>
            </a:r>
            <a:r>
              <a:rPr lang="en-US" sz="1600" err="1">
                <a:latin typeface="+mj-lt"/>
              </a:rPr>
              <a:t>học</a:t>
            </a:r>
            <a:r>
              <a:rPr lang="en-US" sz="1600">
                <a:latin typeface="+mj-lt"/>
              </a:rPr>
              <a:t> </a:t>
            </a:r>
            <a:r>
              <a:rPr lang="en-US" sz="1600" err="1">
                <a:latin typeface="+mj-lt"/>
              </a:rPr>
              <a:t>Tự</a:t>
            </a:r>
            <a:r>
              <a:rPr lang="en-US" sz="1600">
                <a:latin typeface="+mj-lt"/>
              </a:rPr>
              <a:t> </a:t>
            </a:r>
            <a:r>
              <a:rPr lang="en-US" sz="1600" err="1">
                <a:latin typeface="+mj-lt"/>
              </a:rPr>
              <a:t>nhiên</a:t>
            </a:r>
            <a:r>
              <a:rPr lang="en-US" sz="1600">
                <a:latin typeface="+mj-lt"/>
              </a:rPr>
              <a:t> – ĐHQG TPHCM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132D99-9680-1C2D-6AF4-5CF77DE9C271}"/>
              </a:ext>
            </a:extLst>
          </p:cNvPr>
          <p:cNvSpPr txBox="1"/>
          <p:nvPr/>
        </p:nvSpPr>
        <p:spPr>
          <a:xfrm>
            <a:off x="5214503" y="3037575"/>
            <a:ext cx="3744193" cy="102188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err="1">
                <a:latin typeface="+mj-lt"/>
              </a:rPr>
              <a:t>Giảng</a:t>
            </a:r>
            <a:r>
              <a:rPr lang="en-US" b="1">
                <a:latin typeface="+mj-lt"/>
              </a:rPr>
              <a:t> </a:t>
            </a:r>
            <a:r>
              <a:rPr lang="en-US" b="1" err="1">
                <a:latin typeface="+mj-lt"/>
              </a:rPr>
              <a:t>viên</a:t>
            </a:r>
            <a:r>
              <a:rPr lang="en-US" b="1">
                <a:latin typeface="+mj-lt"/>
              </a:rPr>
              <a:t> </a:t>
            </a:r>
            <a:r>
              <a:rPr lang="en-US" b="1" err="1">
                <a:latin typeface="+mj-lt"/>
              </a:rPr>
              <a:t>hướng</a:t>
            </a:r>
            <a:r>
              <a:rPr lang="en-US" b="1">
                <a:latin typeface="+mj-lt"/>
              </a:rPr>
              <a:t> </a:t>
            </a:r>
            <a:r>
              <a:rPr lang="en-US" b="1" err="1">
                <a:latin typeface="+mj-lt"/>
              </a:rPr>
              <a:t>dẫn</a:t>
            </a:r>
            <a:endParaRPr lang="en-US" b="1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err="1">
                <a:latin typeface="+mj-lt"/>
              </a:rPr>
              <a:t>Thầy</a:t>
            </a:r>
            <a:r>
              <a:rPr lang="en-US" b="1">
                <a:latin typeface="+mj-lt"/>
              </a:rPr>
              <a:t> </a:t>
            </a:r>
            <a:r>
              <a:rPr lang="en-US" b="1" err="1">
                <a:latin typeface="+mj-lt"/>
              </a:rPr>
              <a:t>Nguyễn</a:t>
            </a:r>
            <a:r>
              <a:rPr lang="en-US" b="1">
                <a:latin typeface="+mj-lt"/>
              </a:rPr>
              <a:t> Trường Sơn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err="1">
                <a:latin typeface="+mj-lt"/>
              </a:rPr>
              <a:t>Thầy</a:t>
            </a:r>
            <a:r>
              <a:rPr lang="en-US" b="1">
                <a:latin typeface="+mj-lt"/>
              </a:rPr>
              <a:t> </a:t>
            </a:r>
            <a:r>
              <a:rPr lang="en-US" b="1" err="1">
                <a:latin typeface="+mj-lt"/>
              </a:rPr>
              <a:t>Nguyễn</a:t>
            </a:r>
            <a:r>
              <a:rPr lang="en-US" b="1">
                <a:latin typeface="+mj-lt"/>
              </a:rPr>
              <a:t> Tiến Huy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B34A70E-04B4-7BB4-8FF8-F2D1244431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Truth Sleuths</a:t>
            </a:r>
            <a:endParaRPr lang="en-US" b="1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30"/>
          <p:cNvSpPr txBox="1">
            <a:spLocks noGrp="1"/>
          </p:cNvSpPr>
          <p:nvPr>
            <p:ph type="title" idx="4294967295"/>
          </p:nvPr>
        </p:nvSpPr>
        <p:spPr>
          <a:xfrm>
            <a:off x="5056252" y="1317402"/>
            <a:ext cx="802591" cy="5730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latin typeface="+mj-lt"/>
              </a:rPr>
              <a:t>02</a:t>
            </a:r>
            <a:endParaRPr lang="en-US" sz="3200" b="1">
              <a:latin typeface="+mj-lt"/>
            </a:endParaRPr>
          </a:p>
        </p:txBody>
      </p:sp>
      <p:sp>
        <p:nvSpPr>
          <p:cNvPr id="959" name="Google Shape;959;p30"/>
          <p:cNvSpPr txBox="1">
            <a:spLocks noGrp="1"/>
          </p:cNvSpPr>
          <p:nvPr>
            <p:ph type="subTitle" idx="4294967295"/>
          </p:nvPr>
        </p:nvSpPr>
        <p:spPr>
          <a:xfrm>
            <a:off x="5056300" y="3273889"/>
            <a:ext cx="2763501" cy="7508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latin typeface="+mj-lt"/>
              </a:rPr>
              <a:t>Demo</a:t>
            </a:r>
          </a:p>
        </p:txBody>
      </p:sp>
      <p:sp>
        <p:nvSpPr>
          <p:cNvPr id="958" name="Google Shape;958;p30"/>
          <p:cNvSpPr txBox="1">
            <a:spLocks noGrp="1"/>
          </p:cNvSpPr>
          <p:nvPr>
            <p:ph type="subTitle" idx="4294967295"/>
          </p:nvPr>
        </p:nvSpPr>
        <p:spPr>
          <a:xfrm>
            <a:off x="1366447" y="3273890"/>
            <a:ext cx="2752498" cy="7508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b="1" err="1">
                <a:latin typeface="+mj-lt"/>
              </a:rPr>
              <a:t>Thực</a:t>
            </a:r>
            <a:r>
              <a:rPr lang="en-US" sz="2800" b="1">
                <a:latin typeface="+mj-lt"/>
              </a:rPr>
              <a:t> </a:t>
            </a:r>
            <a:r>
              <a:rPr lang="en-US" sz="2800" b="1" err="1">
                <a:latin typeface="+mj-lt"/>
              </a:rPr>
              <a:t>nghiệm</a:t>
            </a:r>
            <a:endParaRPr lang="en-US" sz="2800" b="1">
              <a:latin typeface="+mj-lt"/>
            </a:endParaRPr>
          </a:p>
        </p:txBody>
      </p:sp>
      <p:sp>
        <p:nvSpPr>
          <p:cNvPr id="957" name="Google Shape;957;p30"/>
          <p:cNvSpPr txBox="1">
            <a:spLocks noGrp="1"/>
          </p:cNvSpPr>
          <p:nvPr>
            <p:ph type="subTitle" idx="4294967295"/>
          </p:nvPr>
        </p:nvSpPr>
        <p:spPr>
          <a:xfrm>
            <a:off x="5056251" y="1694190"/>
            <a:ext cx="2748357" cy="7508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b="1">
                <a:latin typeface="+mn-lt"/>
              </a:rPr>
              <a:t>Phương pháp</a:t>
            </a:r>
          </a:p>
        </p:txBody>
      </p:sp>
      <p:sp>
        <p:nvSpPr>
          <p:cNvPr id="951" name="Google Shape;951;p30"/>
          <p:cNvSpPr txBox="1">
            <a:spLocks noGrp="1"/>
          </p:cNvSpPr>
          <p:nvPr>
            <p:ph type="title" idx="4294967295"/>
          </p:nvPr>
        </p:nvSpPr>
        <p:spPr>
          <a:xfrm>
            <a:off x="5056251" y="2828393"/>
            <a:ext cx="802591" cy="5730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latin typeface="+mj-lt"/>
              </a:rPr>
              <a:t>04</a:t>
            </a:r>
            <a:endParaRPr lang="en-US" sz="3200" b="1">
              <a:latin typeface="+mj-lt"/>
            </a:endParaRPr>
          </a:p>
        </p:txBody>
      </p:sp>
      <p:sp>
        <p:nvSpPr>
          <p:cNvPr id="950" name="Google Shape;950;p30"/>
          <p:cNvSpPr txBox="1">
            <a:spLocks noGrp="1"/>
          </p:cNvSpPr>
          <p:nvPr>
            <p:ph type="title" idx="4294967295"/>
          </p:nvPr>
        </p:nvSpPr>
        <p:spPr>
          <a:xfrm>
            <a:off x="1339392" y="1317402"/>
            <a:ext cx="800857" cy="5730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latin typeface="+mj-lt"/>
              </a:rPr>
              <a:t>01</a:t>
            </a:r>
            <a:endParaRPr lang="en-US" sz="3200" b="1">
              <a:latin typeface="+mj-lt"/>
            </a:endParaRPr>
          </a:p>
        </p:txBody>
      </p:sp>
      <p:sp>
        <p:nvSpPr>
          <p:cNvPr id="956" name="Google Shape;956;p30"/>
          <p:cNvSpPr txBox="1">
            <a:spLocks noGrp="1"/>
          </p:cNvSpPr>
          <p:nvPr>
            <p:ph type="subTitle" idx="4294967295"/>
          </p:nvPr>
        </p:nvSpPr>
        <p:spPr>
          <a:xfrm>
            <a:off x="1339391" y="1694190"/>
            <a:ext cx="2516979" cy="7508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err="1">
                <a:latin typeface="+mj-lt"/>
              </a:rPr>
              <a:t>Giới</a:t>
            </a:r>
            <a:r>
              <a:rPr lang="en-US" sz="2800" b="1">
                <a:latin typeface="+mj-lt"/>
              </a:rPr>
              <a:t> </a:t>
            </a:r>
            <a:r>
              <a:rPr lang="en-US" sz="2800" b="1" err="1">
                <a:latin typeface="+mj-lt"/>
              </a:rPr>
              <a:t>thiệu</a:t>
            </a:r>
            <a:endParaRPr lang="en-US" sz="2800" b="1">
              <a:latin typeface="+mj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C89AA7-993F-5258-5DE4-567DFBA9D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427056" cy="473319"/>
          </a:xfrm>
        </p:spPr>
        <p:txBody>
          <a:bodyPr/>
          <a:lstStyle/>
          <a:p>
            <a:r>
              <a:rPr lang="en-US" err="1">
                <a:latin typeface="+mj-lt"/>
                <a:cs typeface="Arial"/>
              </a:rPr>
              <a:t>Mục</a:t>
            </a:r>
            <a:r>
              <a:rPr lang="en-US">
                <a:latin typeface="+mj-lt"/>
                <a:cs typeface="Arial"/>
              </a:rPr>
              <a:t> </a:t>
            </a:r>
            <a:r>
              <a:rPr lang="en-US" err="1">
                <a:latin typeface="+mj-lt"/>
                <a:cs typeface="Arial"/>
              </a:rPr>
              <a:t>lục</a:t>
            </a:r>
          </a:p>
        </p:txBody>
      </p:sp>
      <p:sp>
        <p:nvSpPr>
          <p:cNvPr id="6" name="Google Shape;952;p30">
            <a:extLst>
              <a:ext uri="{FF2B5EF4-FFF2-40B4-BE49-F238E27FC236}">
                <a16:creationId xmlns:a16="http://schemas.microsoft.com/office/drawing/2014/main" id="{E7192F00-CFDC-AA92-72B0-CD4D5B4DB8A1}"/>
              </a:ext>
            </a:extLst>
          </p:cNvPr>
          <p:cNvSpPr txBox="1">
            <a:spLocks/>
          </p:cNvSpPr>
          <p:nvPr/>
        </p:nvSpPr>
        <p:spPr>
          <a:xfrm>
            <a:off x="1364861" y="2830184"/>
            <a:ext cx="802591" cy="57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" sz="3200">
                <a:latin typeface="+mj-lt"/>
                <a:cs typeface="Arial"/>
              </a:rPr>
              <a:t>03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0F34C-EC6A-482B-2294-6A53B10D82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-100" y="4868861"/>
            <a:ext cx="3369840" cy="274637"/>
          </a:xfrm>
        </p:spPr>
        <p:txBody>
          <a:bodyPr/>
          <a:lstStyle/>
          <a:p>
            <a:r>
              <a:rPr lang="en-US">
                <a:latin typeface="+mj-lt"/>
              </a:rPr>
              <a:t>Truth Sleuths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53751B0E-6FC7-3066-B19D-B968D33F8E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+mj-lt"/>
              </a:rPr>
              <a:t> Trang </a:t>
            </a:r>
            <a:fld id="{5C6D44A2-FB5A-4C32-BB14-95F7E6846750}" type="slidenum">
              <a:rPr lang="en-US" dirty="0" smtClean="0">
                <a:latin typeface="+mj-lt"/>
              </a:rPr>
              <a:pPr/>
              <a:t>2</a:t>
            </a:fld>
            <a:r>
              <a:rPr lang="en-US">
                <a:latin typeface="+mj-lt"/>
              </a:rPr>
              <a:t>/37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bg1"/>
                </a:solidFill>
                <a:latin typeface="+mj-lt"/>
                <a:cs typeface="Arial"/>
              </a:rPr>
              <a:t>Giới thiệu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FCD355-6293-E465-FF0A-C893B93E8539}"/>
              </a:ext>
            </a:extLst>
          </p:cNvPr>
          <p:cNvSpPr txBox="1"/>
          <p:nvPr/>
        </p:nvSpPr>
        <p:spPr>
          <a:xfrm>
            <a:off x="361106" y="938140"/>
            <a:ext cx="7954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>
                <a:latin typeface="+mj-lt"/>
              </a:rPr>
              <a:t>Tin </a:t>
            </a:r>
            <a:r>
              <a:rPr lang="en-US" err="1">
                <a:latin typeface="+mj-lt"/>
              </a:rPr>
              <a:t>giả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và</a:t>
            </a:r>
            <a:r>
              <a:rPr lang="en-US">
                <a:latin typeface="+mj-lt"/>
              </a:rPr>
              <a:t> tin </a:t>
            </a:r>
            <a:r>
              <a:rPr lang="en-US" err="1">
                <a:latin typeface="+mj-lt"/>
              </a:rPr>
              <a:t>sai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sự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thật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đang</a:t>
            </a:r>
            <a:r>
              <a:rPr lang="en-US">
                <a:latin typeface="+mj-lt"/>
              </a:rPr>
              <a:t> lan </a:t>
            </a:r>
            <a:r>
              <a:rPr lang="en-US" err="1">
                <a:latin typeface="+mj-lt"/>
              </a:rPr>
              <a:t>truyền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mạnh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mẽ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trên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mạng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xã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hội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và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các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kênh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truyền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thông</a:t>
            </a:r>
            <a:r>
              <a:rPr lang="en-US">
                <a:latin typeface="+mj-lt"/>
              </a:rPr>
              <a:t> ở Việt Nam.</a:t>
            </a:r>
            <a:endParaRPr lang="en-US" b="1">
              <a:latin typeface="+mj-lt"/>
              <a:ea typeface="Ebrima" panose="02000000000000000000" pitchFamily="2" charset="0"/>
            </a:endParaRP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B59D0791-785B-934F-8C41-6D63A6BBEE5E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 err="1">
                <a:latin typeface="+mj-lt"/>
                <a:cs typeface="Arial"/>
              </a:rPr>
              <a:t>Bối</a:t>
            </a:r>
            <a:r>
              <a:rPr lang="en-US" sz="1600">
                <a:latin typeface="+mj-lt"/>
                <a:cs typeface="Arial"/>
              </a:rPr>
              <a:t> </a:t>
            </a:r>
            <a:r>
              <a:rPr lang="en-US" sz="1600" err="1">
                <a:latin typeface="+mj-lt"/>
                <a:cs typeface="Arial"/>
              </a:rPr>
              <a:t>cảnh</a:t>
            </a:r>
            <a:endParaRPr lang="en-US" sz="1600">
              <a:latin typeface="+mj-lt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C5B6D-0B58-A2C1-6E3E-32C82D03C1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Truth Sleuths</a:t>
            </a:r>
            <a:endParaRPr lang="en-US" b="1">
              <a:latin typeface="+mj-lt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4856858-5F33-75EB-D5C9-05B7C0D25A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+mj-lt"/>
              </a:rPr>
              <a:t> Trang </a:t>
            </a:r>
            <a:fld id="{5C6D44A2-FB5A-4C32-BB14-95F7E6846750}" type="slidenum">
              <a:rPr lang="en-US" dirty="0" smtClean="0">
                <a:latin typeface="+mj-lt"/>
              </a:rPr>
              <a:pPr/>
              <a:t>3</a:t>
            </a:fld>
            <a:r>
              <a:rPr lang="en-US">
                <a:latin typeface="+mj-lt"/>
              </a:rPr>
              <a:t>/37</a:t>
            </a:r>
          </a:p>
        </p:txBody>
      </p:sp>
      <p:pic>
        <p:nvPicPr>
          <p:cNvPr id="1028" name="Picture 4" descr="Cảnh giác với nạn tin giả trong phòng chống dịch bệnh Covid-19">
            <a:extLst>
              <a:ext uri="{FF2B5EF4-FFF2-40B4-BE49-F238E27FC236}">
                <a16:creationId xmlns:a16="http://schemas.microsoft.com/office/drawing/2014/main" id="{38E445FE-B1D3-2756-5709-947CE7677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989" y="1532103"/>
            <a:ext cx="4449011" cy="333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ãy mạnh tay với tin giả! - Tuổi Trẻ Online">
            <a:extLst>
              <a:ext uri="{FF2B5EF4-FFF2-40B4-BE49-F238E27FC236}">
                <a16:creationId xmlns:a16="http://schemas.microsoft.com/office/drawing/2014/main" id="{C87E3150-2A61-8505-5D6D-D84FE2457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51" y="1692524"/>
            <a:ext cx="3906181" cy="2927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CB26E02D-FEB6-F615-FD45-C132236A1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0C27F109-B850-EB1E-7499-DCA34E12A0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err="1">
                <a:solidFill>
                  <a:schemeClr val="bg1"/>
                </a:solidFill>
                <a:latin typeface="Arial"/>
                <a:cs typeface="Arial"/>
              </a:rPr>
              <a:t>Giới</a:t>
            </a:r>
            <a:r>
              <a:rPr lang="en-US" sz="240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Arial"/>
                <a:cs typeface="Arial"/>
              </a:rPr>
              <a:t>thiệu</a:t>
            </a:r>
            <a:endParaRPr lang="en-US" sz="24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B50464-9462-FC60-1A43-7D2FFFB36024}"/>
              </a:ext>
            </a:extLst>
          </p:cNvPr>
          <p:cNvSpPr txBox="1"/>
          <p:nvPr/>
        </p:nvSpPr>
        <p:spPr>
          <a:xfrm>
            <a:off x="361107" y="938140"/>
            <a:ext cx="827002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tin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tiếng</a:t>
            </a:r>
            <a:r>
              <a:rPr lang="en-US" dirty="0"/>
              <a:t> Việt,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NLP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+mj-lt"/>
              </a:rPr>
              <a:t>Tác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giả</a:t>
            </a:r>
            <a:r>
              <a:rPr lang="en-US" dirty="0">
                <a:latin typeface="+mj-lt"/>
              </a:rPr>
              <a:t> </a:t>
            </a:r>
            <a:r>
              <a:rPr lang="fr-FR" dirty="0">
                <a:latin typeface="+mj-lt"/>
              </a:rPr>
              <a:t>Guo </a:t>
            </a:r>
            <a:r>
              <a:rPr lang="fr-FR" dirty="0" err="1">
                <a:latin typeface="+mj-lt"/>
              </a:rPr>
              <a:t>cùng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đồng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nghiệp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đã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đề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xuất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một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hệ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thống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kiểm</a:t>
            </a:r>
            <a:r>
              <a:rPr lang="fr-FR" dirty="0">
                <a:latin typeface="+mj-lt"/>
              </a:rPr>
              <a:t> tra </a:t>
            </a:r>
            <a:r>
              <a:rPr lang="fr-FR" dirty="0" err="1">
                <a:latin typeface="+mj-lt"/>
              </a:rPr>
              <a:t>tính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xác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thực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của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một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văn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bản</a:t>
            </a:r>
            <a:r>
              <a:rPr lang="fr-FR" dirty="0">
                <a:latin typeface="+mj-lt"/>
              </a:rPr>
              <a:t> ở </a:t>
            </a:r>
            <a:r>
              <a:rPr lang="fr-FR" dirty="0" err="1">
                <a:latin typeface="+mj-lt"/>
              </a:rPr>
              <a:t>hội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nghị</a:t>
            </a:r>
            <a:r>
              <a:rPr lang="fr-FR" dirty="0">
                <a:latin typeface="+mj-lt"/>
              </a:rPr>
              <a:t> TACL 2022 bao </a:t>
            </a:r>
            <a:r>
              <a:rPr lang="fr-FR" dirty="0" err="1">
                <a:latin typeface="+mj-lt"/>
              </a:rPr>
              <a:t>gồm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các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thành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phần</a:t>
            </a:r>
            <a:r>
              <a:rPr lang="fr-FR" dirty="0">
                <a:latin typeface="+mj-lt"/>
              </a:rPr>
              <a:t>:</a:t>
            </a: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F26522D2-A89E-7EB5-F2DE-A982830C118B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 err="1">
                <a:latin typeface="Arial"/>
                <a:cs typeface="Arial"/>
              </a:rPr>
              <a:t>Mục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tiêu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0F304-4850-3535-78EB-35C7AB60D4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B758932D-8996-CB1A-C6DC-53C515EA9A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4</a:t>
            </a:fld>
            <a:r>
              <a:rPr lang="en-US">
                <a:latin typeface="Arial"/>
              </a:rPr>
              <a:t>/37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B266A0-DC3E-C700-6874-BA7DF6DB8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585" y="2286157"/>
            <a:ext cx="7234830" cy="211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95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C2F533BD-0564-A9F2-A4B5-0719C814B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A5BC6649-C8BD-75CB-72B8-1BF9EBA22E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>
                <a:solidFill>
                  <a:schemeClr val="bg1"/>
                </a:solidFill>
                <a:latin typeface="Arial"/>
                <a:cs typeface="Arial"/>
              </a:rPr>
              <a:t>Phương pháp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23E46F-234F-A050-7FD0-FACD9DE9E1AD}"/>
              </a:ext>
            </a:extLst>
          </p:cNvPr>
          <p:cNvSpPr txBox="1"/>
          <p:nvPr/>
        </p:nvSpPr>
        <p:spPr>
          <a:xfrm>
            <a:off x="361107" y="938140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>
                <a:ea typeface="Ebrima" panose="02000000000000000000" pitchFamily="2" charset="0"/>
              </a:rPr>
              <a:t>Các </a:t>
            </a:r>
            <a:r>
              <a:rPr lang="en-US" err="1">
                <a:ea typeface="Ebrima" panose="02000000000000000000" pitchFamily="2" charset="0"/>
              </a:rPr>
              <a:t>công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trình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nghiên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cứu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về</a:t>
            </a:r>
            <a:r>
              <a:rPr lang="en-US">
                <a:ea typeface="Ebrima" panose="02000000000000000000" pitchFamily="2" charset="0"/>
              </a:rPr>
              <a:t> fact-checking </a:t>
            </a:r>
            <a:r>
              <a:rPr lang="en-US" err="1">
                <a:ea typeface="Ebrima" panose="02000000000000000000" pitchFamily="2" charset="0"/>
              </a:rPr>
              <a:t>đang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dần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nở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rộ</a:t>
            </a:r>
            <a:r>
              <a:rPr lang="en-US">
                <a:ea typeface="Ebrima" panose="02000000000000000000" pitchFamily="2" charset="0"/>
              </a:rPr>
              <a:t> ở Việt Nam</a:t>
            </a: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46A95FA9-ADB8-635F-48E1-82332225C055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 err="1">
                <a:latin typeface="Arial"/>
                <a:cs typeface="Arial"/>
              </a:rPr>
              <a:t>Động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lực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DD998-801E-AD70-9D73-8677FD71EB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33333E7-02EF-92FC-516E-057750A83E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 Trang  </a:t>
            </a:r>
            <a:fld id="{5C6D44A2-FB5A-4C32-BB14-95F7E6846750}" type="slidenum">
              <a:rPr lang="en-US" smtClean="0">
                <a:latin typeface="Arial"/>
              </a:rPr>
              <a:pPr/>
              <a:t>5</a:t>
            </a:fld>
            <a:r>
              <a:rPr lang="en-US">
                <a:latin typeface="Arial"/>
              </a:rPr>
              <a:t>/37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288013-B84B-15D4-1AD1-FBF9FA94F992}"/>
              </a:ext>
            </a:extLst>
          </p:cNvPr>
          <p:cNvSpPr txBox="1"/>
          <p:nvPr/>
        </p:nvSpPr>
        <p:spPr>
          <a:xfrm>
            <a:off x="658650" y="1256571"/>
            <a:ext cx="821339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>
                <a:ea typeface="Ebrima" panose="02000000000000000000" pitchFamily="2" charset="0"/>
              </a:rPr>
              <a:t>Duong et al. (2023): Khai </a:t>
            </a:r>
            <a:r>
              <a:rPr lang="en-US" err="1">
                <a:ea typeface="Ebrima" panose="02000000000000000000" pitchFamily="2" charset="0"/>
              </a:rPr>
              <a:t>thác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đồ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thị</a:t>
            </a:r>
            <a:r>
              <a:rPr lang="en-US">
                <a:ea typeface="Ebrima" panose="02000000000000000000" pitchFamily="2" charset="0"/>
              </a:rPr>
              <a:t> tri </a:t>
            </a:r>
            <a:r>
              <a:rPr lang="en-US" err="1">
                <a:ea typeface="Ebrima" panose="02000000000000000000" pitchFamily="2" charset="0"/>
              </a:rPr>
              <a:t>thức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trong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tác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vụ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xác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thực</a:t>
            </a:r>
            <a:r>
              <a:rPr lang="en-US">
                <a:ea typeface="Ebrima" panose="02000000000000000000" pitchFamily="2" charset="0"/>
              </a:rPr>
              <a:t> claim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err="1">
                <a:ea typeface="Ebrima" panose="02000000000000000000" pitchFamily="2" charset="0"/>
              </a:rPr>
              <a:t>ViWikiFC</a:t>
            </a:r>
            <a:r>
              <a:rPr lang="en-US">
                <a:ea typeface="Ebrima" panose="02000000000000000000" pitchFamily="2" charset="0"/>
              </a:rPr>
              <a:t> (2024): </a:t>
            </a:r>
            <a:r>
              <a:rPr lang="en-US" err="1">
                <a:ea typeface="Ebrima" panose="02000000000000000000" pitchFamily="2" charset="0"/>
              </a:rPr>
              <a:t>Dựa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trên</a:t>
            </a:r>
            <a:r>
              <a:rPr lang="en-US">
                <a:ea typeface="Ebrima" panose="02000000000000000000" pitchFamily="2" charset="0"/>
              </a:rPr>
              <a:t> tri </a:t>
            </a:r>
            <a:r>
              <a:rPr lang="en-US" err="1">
                <a:ea typeface="Ebrima" panose="02000000000000000000" pitchFamily="2" charset="0"/>
              </a:rPr>
              <a:t>thức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của</a:t>
            </a:r>
            <a:r>
              <a:rPr lang="en-US">
                <a:ea typeface="Ebrima" panose="02000000000000000000" pitchFamily="2" charset="0"/>
              </a:rPr>
              <a:t> Wikipedia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err="1">
                <a:ea typeface="Ebrima" panose="02000000000000000000" pitchFamily="2" charset="0"/>
              </a:rPr>
              <a:t>ViFactCheck</a:t>
            </a:r>
            <a:r>
              <a:rPr lang="en-US">
                <a:ea typeface="Ebrima" panose="02000000000000000000" pitchFamily="2" charset="0"/>
              </a:rPr>
              <a:t> (2025): B</a:t>
            </a:r>
            <a:r>
              <a:rPr lang="vi-VN"/>
              <a:t>enchmark đầu tiên do con người gán nhãn, đa lĩnh vực</a:t>
            </a:r>
            <a:endParaRPr lang="en-US">
              <a:ea typeface="Ebrima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83C75B-B267-7A34-C4FD-DC0D5A99F00B}"/>
              </a:ext>
            </a:extLst>
          </p:cNvPr>
          <p:cNvSpPr txBox="1"/>
          <p:nvPr/>
        </p:nvSpPr>
        <p:spPr>
          <a:xfrm>
            <a:off x="361107" y="2422178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>
                <a:ea typeface="Ebrima" panose="02000000000000000000" pitchFamily="2" charset="0"/>
              </a:rPr>
              <a:t>Tuy </a:t>
            </a:r>
            <a:r>
              <a:rPr lang="en-US" err="1">
                <a:ea typeface="Ebrima" panose="02000000000000000000" pitchFamily="2" charset="0"/>
              </a:rPr>
              <a:t>nhiên</a:t>
            </a:r>
            <a:endParaRPr lang="en-US">
              <a:ea typeface="Ebrima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1A2EAE-74B3-2BDC-6854-41475B09A616}"/>
              </a:ext>
            </a:extLst>
          </p:cNvPr>
          <p:cNvSpPr txBox="1"/>
          <p:nvPr/>
        </p:nvSpPr>
        <p:spPr>
          <a:xfrm>
            <a:off x="658650" y="2769545"/>
            <a:ext cx="821339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err="1">
                <a:ea typeface="Ebrima" panose="02000000000000000000" pitchFamily="2" charset="0"/>
              </a:rPr>
              <a:t>Phần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lớn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các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công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trình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chỉ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nghiên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cứu</a:t>
            </a:r>
            <a:r>
              <a:rPr lang="en-US">
                <a:ea typeface="Ebrima" panose="02000000000000000000" pitchFamily="2" charset="0"/>
              </a:rPr>
              <a:t> ở </a:t>
            </a:r>
            <a:r>
              <a:rPr lang="en-US" err="1">
                <a:ea typeface="Ebrima" panose="02000000000000000000" pitchFamily="2" charset="0"/>
              </a:rPr>
              <a:t>các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tác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vụ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xác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thực</a:t>
            </a:r>
            <a:r>
              <a:rPr lang="en-US">
                <a:ea typeface="Ebrima" panose="02000000000000000000" pitchFamily="2" charset="0"/>
              </a:rPr>
              <a:t> claim </a:t>
            </a:r>
            <a:r>
              <a:rPr lang="en-US" err="1">
                <a:ea typeface="Ebrima" panose="02000000000000000000" pitchFamily="2" charset="0"/>
              </a:rPr>
              <a:t>với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các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bằng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chứng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đã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được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xác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thực</a:t>
            </a:r>
            <a:r>
              <a:rPr lang="en-US">
                <a:ea typeface="Ebrima" panose="02000000000000000000" pitchFamily="2" charset="0"/>
              </a:rPr>
              <a:t>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err="1">
                <a:ea typeface="Ebrima" panose="02000000000000000000" pitchFamily="2" charset="0"/>
              </a:rPr>
              <a:t>Chưa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phản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ánh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đúng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kịch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bản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thực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tế</a:t>
            </a:r>
            <a:r>
              <a:rPr lang="en-US">
                <a:ea typeface="Ebrima" panose="02000000000000000000" pitchFamily="2" charset="0"/>
              </a:rPr>
              <a:t>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vi-VN"/>
              <a:t>Retrieval &amp; Evidence Selection vẫn chưa được nghiên cứu đầy đủ trong bối cảnh tiếng Việt.</a:t>
            </a:r>
            <a:endParaRPr lang="en-US">
              <a:ea typeface="Ebrima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585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07D3490B-A1F2-659D-E88E-031589BF7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ABB21685-26E9-16C5-F76E-371ABE20A3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>
                <a:solidFill>
                  <a:schemeClr val="bg1"/>
                </a:solidFill>
                <a:latin typeface="Arial"/>
                <a:cs typeface="Arial"/>
              </a:rPr>
              <a:t>Phương pháp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83E887-2AFF-55AD-B9FB-4F53FECFDA8F}"/>
              </a:ext>
            </a:extLst>
          </p:cNvPr>
          <p:cNvSpPr txBox="1"/>
          <p:nvPr/>
        </p:nvSpPr>
        <p:spPr>
          <a:xfrm>
            <a:off x="361107" y="938140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err="1"/>
              <a:t>Xây</a:t>
            </a:r>
            <a:r>
              <a:rPr lang="en-US"/>
              <a:t> </a:t>
            </a:r>
            <a:r>
              <a:rPr lang="en-US" err="1"/>
              <a:t>dựng</a:t>
            </a:r>
            <a:r>
              <a:rPr lang="en-US"/>
              <a:t> </a:t>
            </a:r>
            <a:r>
              <a:rPr lang="en-US" b="1" err="1"/>
              <a:t>VietFactCheck</a:t>
            </a:r>
            <a:r>
              <a:rPr lang="en-US"/>
              <a:t> – </a:t>
            </a:r>
            <a:r>
              <a:rPr lang="en-US" err="1"/>
              <a:t>hệ</a:t>
            </a:r>
            <a:r>
              <a:rPr lang="en-US"/>
              <a:t> </a:t>
            </a:r>
            <a:r>
              <a:rPr lang="en-US" err="1"/>
              <a:t>thống</a:t>
            </a:r>
            <a:r>
              <a:rPr lang="en-US"/>
              <a:t> end-to-end </a:t>
            </a:r>
            <a:r>
              <a:rPr lang="en-US" err="1"/>
              <a:t>hoàn</a:t>
            </a:r>
            <a:r>
              <a:rPr lang="en-US"/>
              <a:t> </a:t>
            </a:r>
            <a:r>
              <a:rPr lang="en-US" err="1"/>
              <a:t>chỉnh</a:t>
            </a:r>
            <a:r>
              <a:rPr lang="en-US"/>
              <a:t> </a:t>
            </a:r>
            <a:r>
              <a:rPr lang="en-US" err="1"/>
              <a:t>gồm</a:t>
            </a:r>
            <a:r>
              <a:rPr lang="en-US"/>
              <a:t>:</a:t>
            </a:r>
            <a:endParaRPr lang="en-US" b="1">
              <a:ea typeface="Ebrima" panose="02000000000000000000" pitchFamily="2" charset="0"/>
            </a:endParaRP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665A4575-BF73-7922-72DB-9AFE91C1AF6F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 err="1">
                <a:latin typeface="Arial"/>
                <a:cs typeface="Arial"/>
              </a:rPr>
              <a:t>Mô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hình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đề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xuất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0C737-3DBF-5212-A311-9BD8B3F884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2002A335-172B-2C20-2987-AA65740728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 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6</a:t>
            </a:fld>
            <a:r>
              <a:rPr lang="en-US">
                <a:latin typeface="Arial"/>
              </a:rPr>
              <a:t>/37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51734D-191B-E06D-A8BA-F45F70928FA9}"/>
              </a:ext>
            </a:extLst>
          </p:cNvPr>
          <p:cNvSpPr txBox="1"/>
          <p:nvPr/>
        </p:nvSpPr>
        <p:spPr>
          <a:xfrm>
            <a:off x="658650" y="1256571"/>
            <a:ext cx="821339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>
                <a:ea typeface="Ebrima" panose="02000000000000000000" pitchFamily="2" charset="0"/>
              </a:rPr>
              <a:t>Claim Detection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>
                <a:ea typeface="Ebrima" panose="02000000000000000000" pitchFamily="2" charset="0"/>
              </a:rPr>
              <a:t>Document Retrieval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>
                <a:ea typeface="Ebrima" panose="02000000000000000000" pitchFamily="2" charset="0"/>
              </a:rPr>
              <a:t>Evidence Selection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>
                <a:ea typeface="Ebrima" panose="02000000000000000000" pitchFamily="2" charset="0"/>
              </a:rPr>
              <a:t>Claim Verification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762C38-C74D-0CFF-42E6-B1113FF3A5B2}"/>
              </a:ext>
            </a:extLst>
          </p:cNvPr>
          <p:cNvSpPr txBox="1"/>
          <p:nvPr/>
        </p:nvSpPr>
        <p:spPr>
          <a:xfrm>
            <a:off x="361107" y="2682997"/>
            <a:ext cx="821339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err="1"/>
              <a:t>Tập</a:t>
            </a:r>
            <a:r>
              <a:rPr lang="en-US"/>
              <a:t> </a:t>
            </a:r>
            <a:r>
              <a:rPr lang="en-US" err="1"/>
              <a:t>trung</a:t>
            </a:r>
            <a:r>
              <a:rPr lang="en-US"/>
              <a:t> </a:t>
            </a:r>
            <a:r>
              <a:rPr lang="en-US" err="1"/>
              <a:t>cải</a:t>
            </a:r>
            <a:r>
              <a:rPr lang="en-US"/>
              <a:t> </a:t>
            </a:r>
            <a:r>
              <a:rPr lang="en-US" err="1"/>
              <a:t>thiện</a:t>
            </a:r>
            <a:r>
              <a:rPr lang="en-US"/>
              <a:t> </a:t>
            </a:r>
            <a:r>
              <a:rPr lang="en-US" err="1"/>
              <a:t>khả</a:t>
            </a:r>
            <a:r>
              <a:rPr lang="en-US"/>
              <a:t> </a:t>
            </a:r>
            <a:r>
              <a:rPr lang="en-US" err="1"/>
              <a:t>năng</a:t>
            </a:r>
            <a:r>
              <a:rPr lang="en-US"/>
              <a:t> </a:t>
            </a:r>
            <a:r>
              <a:rPr lang="en-US" b="1" err="1"/>
              <a:t>truy</a:t>
            </a:r>
            <a:r>
              <a:rPr lang="en-US" b="1"/>
              <a:t> </a:t>
            </a:r>
            <a:r>
              <a:rPr lang="en-US" b="1" err="1"/>
              <a:t>vấn</a:t>
            </a:r>
            <a:r>
              <a:rPr lang="en-US"/>
              <a:t> </a:t>
            </a:r>
            <a:r>
              <a:rPr lang="en-US" err="1"/>
              <a:t>bằng</a:t>
            </a:r>
            <a:r>
              <a:rPr lang="en-US"/>
              <a:t> hybrid retrieval + cross-encoder reranking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vi-VN"/>
              <a:t>Hướng tới </a:t>
            </a:r>
            <a:r>
              <a:rPr lang="vi-VN" b="1"/>
              <a:t>ứng dụng thực tế</a:t>
            </a:r>
            <a:r>
              <a:rPr lang="vi-VN"/>
              <a:t>, chạy được trên phần cứng phổ thông và triển khai web</a:t>
            </a:r>
            <a:endParaRPr lang="en-US" b="1">
              <a:ea typeface="Ebrima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742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0010B7E8-D950-93BA-28CD-E57932AEF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4F3E4E6D-0B32-A601-67DA-2718B517D4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>
                <a:solidFill>
                  <a:schemeClr val="bg1"/>
                </a:solidFill>
                <a:latin typeface="Arial"/>
                <a:cs typeface="Arial"/>
              </a:rPr>
              <a:t>Phương pháp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494D23-2088-5C51-0978-7FDE8ED72E61}"/>
                  </a:ext>
                </a:extLst>
              </p:cNvPr>
              <p:cNvSpPr txBox="1"/>
              <p:nvPr/>
            </p:nvSpPr>
            <p:spPr>
              <a:xfrm>
                <a:off x="361107" y="938140"/>
                <a:ext cx="8213398" cy="1046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b="1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Mục</a:t>
                </a: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b="1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đích</a:t>
                </a: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: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trích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xuất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ra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các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khẳng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định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“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đáng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”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để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xác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thực</a:t>
                </a:r>
                <a:endParaRPr lang="en-US" b="1">
                  <a:latin typeface="+mj-lt"/>
                  <a:ea typeface="Ebrima" panose="02000000000000000000" pitchFamily="2" charset="0"/>
                  <a:cs typeface="Ebrima" panose="02000000000000000000" pitchFamily="2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b="1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Đầu</a:t>
                </a: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b="1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vào</a:t>
                </a: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: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đoạn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văn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bản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}</m:t>
                    </m:r>
                  </m:oMath>
                </a14:m>
                <a:endParaRPr lang="en-US">
                  <a:latin typeface="+mj-lt"/>
                  <a:ea typeface="Ebrima" panose="02000000000000000000" pitchFamily="2" charset="0"/>
                  <a:cs typeface="Ebrima" panose="02000000000000000000" pitchFamily="2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b="1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Đầu</a:t>
                </a: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b="1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ra</a:t>
                </a: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: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tập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các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claim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có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tiềm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năng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}</m:t>
                    </m:r>
                  </m:oMath>
                </a14:m>
                <a:endParaRPr lang="en-US">
                  <a:latin typeface="+mj-lt"/>
                  <a:ea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494D23-2088-5C51-0978-7FDE8ED72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07" y="938140"/>
                <a:ext cx="8213398" cy="1046440"/>
              </a:xfrm>
              <a:prstGeom prst="rect">
                <a:avLst/>
              </a:prstGeom>
              <a:blipFill>
                <a:blip r:embed="rId3"/>
                <a:stretch>
                  <a:fillRect l="-74" t="-1163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503D091A-4586-2B0F-177F-93E32383CCB8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>
                <a:latin typeface="Arial"/>
                <a:cs typeface="Arial"/>
              </a:rPr>
              <a:t>Module Claim Detection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178A9-1587-BDCF-B11D-0EC26EEA2C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577B3D5-F644-E5E7-C2ED-B75AB85A1C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7</a:t>
            </a:fld>
            <a:r>
              <a:rPr lang="en-US">
                <a:latin typeface="Arial"/>
              </a:rPr>
              <a:t>/37</a:t>
            </a:r>
          </a:p>
        </p:txBody>
      </p:sp>
      <p:pic>
        <p:nvPicPr>
          <p:cNvPr id="1026" name="Picture 2" descr="Rule - Free education icons">
            <a:extLst>
              <a:ext uri="{FF2B5EF4-FFF2-40B4-BE49-F238E27FC236}">
                <a16:creationId xmlns:a16="http://schemas.microsoft.com/office/drawing/2014/main" id="{1DF678CD-2EC2-4587-C3CD-9FFE64EA4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161" y="2571750"/>
            <a:ext cx="1320800" cy="13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obot - Free technology icons">
            <a:extLst>
              <a:ext uri="{FF2B5EF4-FFF2-40B4-BE49-F238E27FC236}">
                <a16:creationId xmlns:a16="http://schemas.microsoft.com/office/drawing/2014/main" id="{B5BD5804-1F75-BC7C-F9CC-51DDD9DBD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9573" y="2571750"/>
            <a:ext cx="1320800" cy="13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A6C279-1DBF-4417-0536-F93FC6EF656D}"/>
              </a:ext>
            </a:extLst>
          </p:cNvPr>
          <p:cNvSpPr txBox="1"/>
          <p:nvPr/>
        </p:nvSpPr>
        <p:spPr>
          <a:xfrm>
            <a:off x="2057400" y="3892550"/>
            <a:ext cx="1598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>
                <a:ea typeface="Ebrima" panose="02000000000000000000" pitchFamily="2" charset="0"/>
              </a:rPr>
              <a:t>Heuristic based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586321-BBCC-F695-8FEE-3F9F9F8DE550}"/>
              </a:ext>
            </a:extLst>
          </p:cNvPr>
          <p:cNvSpPr txBox="1"/>
          <p:nvPr/>
        </p:nvSpPr>
        <p:spPr>
          <a:xfrm>
            <a:off x="5140812" y="3887861"/>
            <a:ext cx="19457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>
                <a:ea typeface="Ebrima" panose="02000000000000000000" pitchFamily="2" charset="0"/>
              </a:rPr>
              <a:t>Transformer based</a:t>
            </a:r>
          </a:p>
        </p:txBody>
      </p:sp>
    </p:spTree>
    <p:extLst>
      <p:ext uri="{BB962C8B-B14F-4D97-AF65-F5344CB8AC3E}">
        <p14:creationId xmlns:p14="http://schemas.microsoft.com/office/powerpoint/2010/main" val="351167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11A2952B-8ACA-0D3C-2B8E-07BC30EA9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C8F57344-95C2-9978-C34A-2C65FB32B9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>
                <a:solidFill>
                  <a:schemeClr val="bg1"/>
                </a:solidFill>
                <a:latin typeface="Arial"/>
                <a:cs typeface="Arial"/>
              </a:rPr>
              <a:t>Phương pháp</a:t>
            </a: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3B0BB833-358D-01F4-6EB0-727E01EB7723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4009196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>
                <a:latin typeface="Arial"/>
                <a:cs typeface="Arial"/>
              </a:rPr>
              <a:t>Heuristic based Claim Detection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3A777-7FE1-BD41-EA57-4CB0B1CF8E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382797F5-9B38-5587-0715-A5E36F3BBA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8</a:t>
            </a:fld>
            <a:r>
              <a:rPr lang="en-US">
                <a:latin typeface="Arial"/>
              </a:rPr>
              <a:t>/37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D8432F-F8FE-8E56-D839-694B96AB322B}"/>
                  </a:ext>
                </a:extLst>
              </p:cNvPr>
              <p:cNvSpPr txBox="1"/>
              <p:nvPr/>
            </p:nvSpPr>
            <p:spPr>
              <a:xfrm>
                <a:off x="361107" y="952608"/>
                <a:ext cx="8213398" cy="2570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+mj-lt"/>
                  </a:rPr>
                  <a:t>S</a:t>
                </a:r>
                <a:r>
                  <a:rPr lang="vi-VN" dirty="0">
                    <a:latin typeface="+mn-lt"/>
                  </a:rPr>
                  <a:t>ử dụng các quy tắc ngôn ngữ học </a:t>
                </a:r>
                <a:r>
                  <a:rPr lang="en-US" dirty="0">
                    <a:latin typeface="+mn-lt"/>
                  </a:rPr>
                  <a:t>-</a:t>
                </a:r>
                <a:r>
                  <a:rPr lang="vi-VN" dirty="0">
                    <a:latin typeface="+mn-lt"/>
                  </a:rPr>
                  <a:t> gọn nhẹ, dễ hiểu, không cần dữ liệu được gắn nhãn</a:t>
                </a:r>
                <a:r>
                  <a:rPr lang="vi-VN" dirty="0">
                    <a:latin typeface="+mj-lt"/>
                  </a:rPr>
                  <a:t>.</a:t>
                </a:r>
                <a:endParaRPr lang="en-US" dirty="0">
                  <a:latin typeface="+mj-lt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Mỗi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văn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bản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bao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gồm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:</a:t>
                </a:r>
              </a:p>
              <a:p>
                <a:pPr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Ebrima" panose="02000000000000000000" pitchFamily="2" charset="0"/>
                              <a:cs typeface="Ebrima" panose="02000000000000000000" pitchFamily="2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Ebrima" panose="02000000000000000000" pitchFamily="2" charset="0"/>
                                  <a:cs typeface="Ebrima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Ebrima" panose="02000000000000000000" pitchFamily="2" charset="0"/>
                                  <a:cs typeface="Ebrima" panose="02000000000000000000" pitchFamily="2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Ebrima" panose="02000000000000000000" pitchFamily="2" charset="0"/>
                                  <a:cs typeface="Ebrima" panose="02000000000000000000" pitchFamily="2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Ebrima" panose="02000000000000000000" pitchFamily="2" charset="0"/>
                              <a:cs typeface="Ebrima" panose="02000000000000000000" pitchFamily="2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Ebrima" panose="02000000000000000000" pitchFamily="2" charset="0"/>
                                  <a:cs typeface="Ebrima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Ebrima" panose="02000000000000000000" pitchFamily="2" charset="0"/>
                                  <a:cs typeface="Ebrima" panose="02000000000000000000" pitchFamily="2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Ebrima" panose="02000000000000000000" pitchFamily="2" charset="0"/>
                                  <a:cs typeface="Ebrima" panose="02000000000000000000" pitchFamily="2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Ebrima" panose="02000000000000000000" pitchFamily="2" charset="0"/>
                              <a:cs typeface="Ebrima" panose="02000000000000000000" pitchFamily="2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Ebrima" panose="02000000000000000000" pitchFamily="2" charset="0"/>
                              <a:cs typeface="Ebrima" panose="02000000000000000000" pitchFamily="2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Ebrima" panose="02000000000000000000" pitchFamily="2" charset="0"/>
                              <a:cs typeface="Ebrima" panose="02000000000000000000" pitchFamily="2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Ebrima" panose="02000000000000000000" pitchFamily="2" charset="0"/>
                              <a:cs typeface="Ebrima" panose="02000000000000000000" pitchFamily="2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Ebrima" panose="02000000000000000000" pitchFamily="2" charset="0"/>
                                  <a:cs typeface="Ebrima" panose="02000000000000000000" pitchFamily="2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Ebrima" panose="02000000000000000000" pitchFamily="2" charset="0"/>
                                      <a:cs typeface="Ebrima" panose="02000000000000000000" pitchFamily="2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Ebrima" panose="02000000000000000000" pitchFamily="2" charset="0"/>
                                          <a:cs typeface="Ebrima" panose="02000000000000000000" pitchFamily="2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Ebrima" panose="02000000000000000000" pitchFamily="2" charset="0"/>
                                          <a:cs typeface="Ebrima" panose="02000000000000000000" pitchFamily="2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Ebrima" panose="02000000000000000000" pitchFamily="2" charset="0"/>
                                          <a:cs typeface="Ebrima" panose="02000000000000000000" pitchFamily="2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Ebrima" panose="02000000000000000000" pitchFamily="2" charset="0"/>
                                      <a:cs typeface="Ebrima" panose="02000000000000000000" pitchFamily="2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Ebrima" panose="02000000000000000000" pitchFamily="2" charset="0"/>
                                          <a:cs typeface="Ebrima" panose="02000000000000000000" pitchFamily="2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Ebrima" panose="02000000000000000000" pitchFamily="2" charset="0"/>
                                          <a:cs typeface="Ebrima" panose="02000000000000000000" pitchFamily="2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Ebrima" panose="02000000000000000000" pitchFamily="2" charset="0"/>
                                          <a:cs typeface="Ebrima" panose="02000000000000000000" pitchFamily="2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Ebrima" panose="02000000000000000000" pitchFamily="2" charset="0"/>
                                      <a:cs typeface="Ebrima" panose="02000000000000000000" pitchFamily="2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Ebrima" panose="02000000000000000000" pitchFamily="2" charset="0"/>
                                          <a:cs typeface="Ebrima" panose="02000000000000000000" pitchFamily="2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Ebrima" panose="02000000000000000000" pitchFamily="2" charset="0"/>
                                          <a:cs typeface="Ebrima" panose="02000000000000000000" pitchFamily="2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Ebrima" panose="02000000000000000000" pitchFamily="2" charset="0"/>
                                          <a:cs typeface="Ebrima" panose="02000000000000000000" pitchFamily="2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Ebrima" panose="02000000000000000000" pitchFamily="2" charset="0"/>
                              <a:cs typeface="Ebrima" panose="02000000000000000000" pitchFamily="2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Ebrima" panose="02000000000000000000" pitchFamily="2" charset="0"/>
                              <a:cs typeface="Ebrima" panose="02000000000000000000" pitchFamily="2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Ebrima" panose="02000000000000000000" pitchFamily="2" charset="0"/>
                              <a:cs typeface="Ebrima" panose="02000000000000000000" pitchFamily="2" charset="0"/>
                            </a:rPr>
                            <m:t>𝑀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+mj-lt"/>
                  <a:ea typeface="Ebrima" panose="02000000000000000000" pitchFamily="2" charset="0"/>
                  <a:cs typeface="Ebrima" panose="02000000000000000000" pitchFamily="2" charset="0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Trong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đó</a:t>
                </a:r>
                <a:endParaRPr lang="en-US" dirty="0">
                  <a:latin typeface="+mj-lt"/>
                  <a:ea typeface="Ebrima" panose="02000000000000000000" pitchFamily="2" charset="0"/>
                  <a:cs typeface="Ebrima" panose="02000000000000000000" pitchFamily="2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: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là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các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từ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trong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câu</a:t>
                </a:r>
                <a:endParaRPr lang="en-US" dirty="0">
                  <a:latin typeface="+mj-lt"/>
                  <a:ea typeface="Ebrima" panose="02000000000000000000" pitchFamily="2" charset="0"/>
                  <a:cs typeface="Ebrima" panose="02000000000000000000" pitchFamily="2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: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là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các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từ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loại</a:t>
                </a:r>
                <a:endParaRPr lang="en-US" dirty="0">
                  <a:latin typeface="+mj-lt"/>
                  <a:ea typeface="Ebrima" panose="02000000000000000000" pitchFamily="2" charset="0"/>
                  <a:cs typeface="Ebrima" panose="02000000000000000000" pitchFamily="2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: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là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nhãn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cho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các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thực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thể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được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đặt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tên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và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số</a:t>
                </a:r>
                <a:endParaRPr lang="en-US" dirty="0">
                  <a:latin typeface="+mj-lt"/>
                  <a:ea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D8432F-F8FE-8E56-D839-694B96AB3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07" y="952608"/>
                <a:ext cx="8213398" cy="2570512"/>
              </a:xfrm>
              <a:prstGeom prst="rect">
                <a:avLst/>
              </a:prstGeom>
              <a:blipFill>
                <a:blip r:embed="rId3"/>
                <a:stretch>
                  <a:fillRect l="-223" t="-237" b="-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6963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30541771-F720-4AD5-DF01-A33D8D578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516B298C-1ED2-F7CC-3B7C-3C7DAE2A90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>
                <a:solidFill>
                  <a:schemeClr val="bg1"/>
                </a:solidFill>
                <a:latin typeface="Arial"/>
                <a:cs typeface="Arial"/>
              </a:rPr>
              <a:t>Phương pháp</a:t>
            </a: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30B558F4-C713-A468-32AA-6D6C51E454C8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4009196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>
                <a:latin typeface="Arial"/>
                <a:cs typeface="Arial"/>
              </a:rPr>
              <a:t>Heuristic based Claim Detection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E5C4B-99A6-9226-93AD-0A2EDA8DCE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8810B99-4177-1F3C-2361-9D331ABE7F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 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9</a:t>
            </a:fld>
            <a:r>
              <a:rPr lang="en-US">
                <a:latin typeface="Arial"/>
              </a:rPr>
              <a:t>/37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5ABD36-301F-5A26-2CFD-0F131CC4BC5C}"/>
              </a:ext>
            </a:extLst>
          </p:cNvPr>
          <p:cNvSpPr txBox="1"/>
          <p:nvPr/>
        </p:nvSpPr>
        <p:spPr>
          <a:xfrm>
            <a:off x="250747" y="938140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>
                <a:ea typeface="Ebrima" panose="02000000000000000000" pitchFamily="2" charset="0"/>
              </a:rPr>
              <a:t>Cách </a:t>
            </a:r>
            <a:r>
              <a:rPr lang="en-US" err="1">
                <a:ea typeface="Ebrima" panose="02000000000000000000" pitchFamily="2" charset="0"/>
              </a:rPr>
              <a:t>xác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định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một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câu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khẳng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định</a:t>
            </a:r>
            <a:r>
              <a:rPr lang="en-US">
                <a:ea typeface="Ebrima" panose="02000000000000000000" pitchFamily="2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66CDD3-4517-61A6-6313-D403268A393B}"/>
                  </a:ext>
                </a:extLst>
              </p:cNvPr>
              <p:cNvSpPr txBox="1"/>
              <p:nvPr/>
            </p:nvSpPr>
            <p:spPr>
              <a:xfrm>
                <a:off x="395514" y="1276694"/>
                <a:ext cx="4782456" cy="2802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: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Có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phải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là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câu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trần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thuật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không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?</a:t>
                </a:r>
              </a:p>
              <a:p>
                <a:pPr marL="285750" indent="-285750">
                  <a:lnSpc>
                    <a:spcPct val="20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: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Có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mặt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của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“Factual verbs”</a:t>
                </a:r>
              </a:p>
              <a:p>
                <a:pPr marL="285750" indent="-285750">
                  <a:lnSpc>
                    <a:spcPct val="20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: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Có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xuất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hiện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tên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riêng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/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số</a:t>
                </a:r>
                <a:endParaRPr lang="en-US" dirty="0">
                  <a:latin typeface="+mj-lt"/>
                  <a:ea typeface="Ebrima" panose="02000000000000000000" pitchFamily="2" charset="0"/>
                  <a:cs typeface="Ebrima" panose="02000000000000000000" pitchFamily="2" charset="0"/>
                </a:endParaRPr>
              </a:p>
              <a:p>
                <a:pPr marL="285750" indent="-285750">
                  <a:lnSpc>
                    <a:spcPct val="20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𝑆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∈[0,3]</m:t>
                    </m:r>
                  </m:oMath>
                </a14:m>
                <a:endParaRPr lang="en-US" dirty="0">
                  <a:latin typeface="+mj-lt"/>
                  <a:ea typeface="Ebrima" panose="02000000000000000000" pitchFamily="2" charset="0"/>
                  <a:cs typeface="Ebrima" panose="02000000000000000000" pitchFamily="2" charset="0"/>
                </a:endParaRPr>
              </a:p>
              <a:p>
                <a:pPr>
                  <a:lnSpc>
                    <a:spcPct val="200000"/>
                  </a:lnSpc>
                  <a:spcBef>
                    <a:spcPts val="1200"/>
                  </a:spcBef>
                </a:pP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Một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câu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được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xem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là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câu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khẳng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định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khi</a:t>
                </a:r>
                <a:r>
                  <a:rPr lang="en-US" dirty="0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𝑆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2</m:t>
                    </m:r>
                  </m:oMath>
                </a14:m>
                <a:endParaRPr lang="en-US" dirty="0">
                  <a:latin typeface="+mj-lt"/>
                  <a:ea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66CDD3-4517-61A6-6313-D403268A3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14" y="1276694"/>
                <a:ext cx="4782456" cy="2802947"/>
              </a:xfrm>
              <a:prstGeom prst="rect">
                <a:avLst/>
              </a:prstGeom>
              <a:blipFill>
                <a:blip r:embed="rId3"/>
                <a:stretch>
                  <a:fillRect l="-383" b="-1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B6621FE8-C98E-2844-10DE-F68017218E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015" y="1184236"/>
            <a:ext cx="4350471" cy="4922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20E1E30-4131-50FD-6716-30568A2BA4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015" y="1922565"/>
            <a:ext cx="2539814" cy="4896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E62B4C-79FD-1767-FE9F-FE79323650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8015" y="2517439"/>
            <a:ext cx="2688585" cy="49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12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0514C0AB-C728-49D1-20D6-F200C3DD8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1D253EE8-0F40-E843-2624-B9222010B9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>
                <a:solidFill>
                  <a:schemeClr val="bg1"/>
                </a:solidFill>
                <a:latin typeface="Arial"/>
                <a:cs typeface="Arial"/>
              </a:rPr>
              <a:t>Phương pháp</a:t>
            </a: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2972EA6D-623F-5103-2FE7-4A02EFB2BD14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4009196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>
                <a:latin typeface="Arial"/>
                <a:cs typeface="Arial"/>
              </a:rPr>
              <a:t>Transformer based Claim Detection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1F186-0C00-FAC6-6704-95DADC83FF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4099F98-F246-7C44-6919-C2FDB1E0DD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 Trang </a:t>
            </a:r>
            <a:fld id="{5C6D44A2-FB5A-4C32-BB14-95F7E6846750}" type="slidenum">
              <a:rPr lang="en-US" dirty="0" smtClean="0">
                <a:latin typeface="Arial"/>
              </a:rPr>
              <a:pPr/>
              <a:t>10</a:t>
            </a:fld>
            <a:r>
              <a:rPr lang="en-US">
                <a:latin typeface="Arial"/>
              </a:rPr>
              <a:t>/37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0EE560-55AE-F604-3973-B7284986C5B9}"/>
              </a:ext>
            </a:extLst>
          </p:cNvPr>
          <p:cNvSpPr txBox="1"/>
          <p:nvPr/>
        </p:nvSpPr>
        <p:spPr>
          <a:xfrm>
            <a:off x="361107" y="938140"/>
            <a:ext cx="821339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err="1"/>
              <a:t>Dùng</a:t>
            </a:r>
            <a:r>
              <a:rPr lang="en-US"/>
              <a:t> </a:t>
            </a:r>
            <a:r>
              <a:rPr lang="en-US" err="1"/>
              <a:t>mô</a:t>
            </a:r>
            <a:r>
              <a:rPr lang="en-US"/>
              <a:t> </a:t>
            </a:r>
            <a:r>
              <a:rPr lang="en-US" err="1"/>
              <a:t>hình</a:t>
            </a:r>
            <a:r>
              <a:rPr lang="en-US"/>
              <a:t> </a:t>
            </a:r>
            <a:r>
              <a:rPr lang="en-US" err="1"/>
              <a:t>BERTSum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tiền</a:t>
            </a:r>
            <a:r>
              <a:rPr lang="en-US"/>
              <a:t> </a:t>
            </a:r>
            <a:r>
              <a:rPr lang="en-US" err="1"/>
              <a:t>huấn</a:t>
            </a:r>
            <a:r>
              <a:rPr lang="en-US"/>
              <a:t> </a:t>
            </a:r>
            <a:r>
              <a:rPr lang="en-US" err="1"/>
              <a:t>luyện</a:t>
            </a:r>
            <a:r>
              <a:rPr lang="en-US"/>
              <a:t> </a:t>
            </a:r>
            <a:r>
              <a:rPr lang="en-US" err="1"/>
              <a:t>trên</a:t>
            </a:r>
            <a:r>
              <a:rPr lang="en-US"/>
              <a:t> </a:t>
            </a:r>
            <a:r>
              <a:rPr lang="en-US" err="1"/>
              <a:t>bộ</a:t>
            </a:r>
            <a:r>
              <a:rPr lang="en-US"/>
              <a:t> </a:t>
            </a:r>
            <a:r>
              <a:rPr lang="en-US" err="1"/>
              <a:t>dữ</a:t>
            </a:r>
            <a:r>
              <a:rPr lang="en-US"/>
              <a:t> </a:t>
            </a:r>
            <a:r>
              <a:rPr lang="en-US" err="1"/>
              <a:t>liệu</a:t>
            </a:r>
            <a:r>
              <a:rPr lang="en-US"/>
              <a:t> CNN/</a:t>
            </a:r>
            <a:r>
              <a:rPr lang="en-US" err="1"/>
              <a:t>DailyMail</a:t>
            </a:r>
            <a:r>
              <a:rPr lang="en-US"/>
              <a:t> dataset.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err="1"/>
              <a:t>Tận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 </a:t>
            </a:r>
            <a:r>
              <a:rPr lang="en-US" err="1"/>
              <a:t>đặc</a:t>
            </a:r>
            <a:r>
              <a:rPr lang="en-US"/>
              <a:t> </a:t>
            </a:r>
            <a:r>
              <a:rPr lang="en-US" err="1"/>
              <a:t>tính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mô</a:t>
            </a:r>
            <a:r>
              <a:rPr lang="en-US"/>
              <a:t> </a:t>
            </a:r>
            <a:r>
              <a:rPr lang="en-US" err="1"/>
              <a:t>hình</a:t>
            </a:r>
            <a:r>
              <a:rPr lang="en-US"/>
              <a:t> </a:t>
            </a:r>
            <a:r>
              <a:rPr lang="en-US" err="1"/>
              <a:t>cho</a:t>
            </a:r>
            <a:r>
              <a:rPr lang="en-US"/>
              <a:t> </a:t>
            </a:r>
            <a:r>
              <a:rPr lang="en-US" err="1"/>
              <a:t>tác</a:t>
            </a:r>
            <a:r>
              <a:rPr lang="en-US"/>
              <a:t> </a:t>
            </a:r>
            <a:r>
              <a:rPr lang="en-US" err="1"/>
              <a:t>vụ</a:t>
            </a:r>
            <a:r>
              <a:rPr lang="en-US"/>
              <a:t> </a:t>
            </a:r>
            <a:r>
              <a:rPr lang="en-US" err="1"/>
              <a:t>tổng</a:t>
            </a:r>
            <a:r>
              <a:rPr lang="en-US"/>
              <a:t> </a:t>
            </a:r>
            <a:r>
              <a:rPr lang="en-US" err="1"/>
              <a:t>hợp</a:t>
            </a:r>
            <a:r>
              <a:rPr lang="en-US"/>
              <a:t> (Extractive Summarization) </a:t>
            </a:r>
            <a:r>
              <a:rPr lang="en-US" err="1"/>
              <a:t>nhằm</a:t>
            </a:r>
            <a:r>
              <a:rPr lang="en-US"/>
              <a:t> </a:t>
            </a:r>
            <a:r>
              <a:rPr lang="en-US" err="1"/>
              <a:t>tìm</a:t>
            </a:r>
            <a:r>
              <a:rPr lang="en-US"/>
              <a:t> </a:t>
            </a:r>
            <a:r>
              <a:rPr lang="en-US" err="1"/>
              <a:t>ra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câu</a:t>
            </a:r>
            <a:r>
              <a:rPr lang="en-US"/>
              <a:t> </a:t>
            </a:r>
            <a:r>
              <a:rPr lang="en-US" err="1"/>
              <a:t>quan</a:t>
            </a:r>
            <a:r>
              <a:rPr lang="en-US"/>
              <a:t> </a:t>
            </a:r>
            <a:r>
              <a:rPr lang="en-US" err="1"/>
              <a:t>trọng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văn</a:t>
            </a:r>
            <a:r>
              <a:rPr lang="en-US"/>
              <a:t> </a:t>
            </a:r>
            <a:r>
              <a:rPr lang="en-US" err="1"/>
              <a:t>bản</a:t>
            </a:r>
            <a:endParaRPr 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5AA317D-6E0D-52EE-8455-ABB6C5767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88" y="2112659"/>
            <a:ext cx="6753225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9623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3FD24162-7B4D-44DC-B029-C2A22187A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3276F4FE-DBB3-F1DB-20D8-C951A838FA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>
                <a:solidFill>
                  <a:schemeClr val="bg1"/>
                </a:solidFill>
                <a:latin typeface="Arial"/>
                <a:cs typeface="Arial"/>
              </a:rPr>
              <a:t>Phương pháp</a:t>
            </a: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E45C7A5B-9182-9EA0-DFC9-53C95BB0812D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>
                <a:latin typeface="Arial"/>
                <a:cs typeface="Arial"/>
              </a:rPr>
              <a:t>Module Evidence Retrieval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1CD2A-5A80-C151-83B1-075B3D61E6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8A1EAE60-FADF-87AF-04CE-775F6E0685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11</a:t>
            </a:fld>
            <a:r>
              <a:rPr lang="en-US">
                <a:latin typeface="Arial"/>
              </a:rPr>
              <a:t>/37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40582C-EE01-A1DF-1BF2-6F71A2BEBDD0}"/>
                  </a:ext>
                </a:extLst>
              </p:cNvPr>
              <p:cNvSpPr txBox="1"/>
              <p:nvPr/>
            </p:nvSpPr>
            <p:spPr>
              <a:xfrm>
                <a:off x="361107" y="938140"/>
                <a:ext cx="8213398" cy="12618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b="1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Mục</a:t>
                </a: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b="1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đích</a:t>
                </a: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: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Truy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xuất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các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câu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tin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tức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tiếng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Việt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có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liên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quan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và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chọn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lọc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bằng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chứng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chính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xác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để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xác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minh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thông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tin.</a:t>
                </a: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b="1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Đầu</a:t>
                </a: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b="1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vào</a:t>
                </a: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: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đoạn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văn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bản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}</m:t>
                    </m:r>
                  </m:oMath>
                </a14:m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,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một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câu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claim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𝑐</m:t>
                    </m:r>
                  </m:oMath>
                </a14:m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.</a:t>
                </a: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b="1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Đầu</a:t>
                </a: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b="1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ra</a:t>
                </a: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: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tập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các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câu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là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bằng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chứng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}</m:t>
                    </m:r>
                  </m:oMath>
                </a14:m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cho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𝑐</m:t>
                    </m:r>
                  </m:oMath>
                </a14:m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40582C-EE01-A1DF-1BF2-6F71A2BEB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07" y="938140"/>
                <a:ext cx="8213398" cy="1261884"/>
              </a:xfrm>
              <a:prstGeom prst="rect">
                <a:avLst/>
              </a:prstGeom>
              <a:blipFill>
                <a:blip r:embed="rId3"/>
                <a:stretch>
                  <a:fillRect l="-74" t="-966" b="-3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>
            <a:extLst>
              <a:ext uri="{FF2B5EF4-FFF2-40B4-BE49-F238E27FC236}">
                <a16:creationId xmlns:a16="http://schemas.microsoft.com/office/drawing/2014/main" id="{B128B28D-95CA-3E36-6A8A-3636BA26A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14" y="2348874"/>
            <a:ext cx="8048171" cy="2371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352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5A18495D-CB1D-2E94-AA0C-FFEEAE5D1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38BBB714-E220-FB6E-44EE-2883983E4B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>
                <a:solidFill>
                  <a:schemeClr val="bg1"/>
                </a:solidFill>
                <a:latin typeface="Arial"/>
                <a:cs typeface="Arial"/>
              </a:rPr>
              <a:t>Phương pháp</a:t>
            </a: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89C2C6CE-0884-CEA6-529E-69553BB25855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>
                <a:latin typeface="Arial"/>
                <a:cs typeface="Arial"/>
              </a:rPr>
              <a:t>Dynamic Reranking Algorithm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14E27-D42A-755F-F27A-8759261B88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AE2B9CA-D801-4329-9EEA-66948D2FF3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12</a:t>
            </a:fld>
            <a:r>
              <a:rPr lang="en-US">
                <a:latin typeface="Arial"/>
              </a:rPr>
              <a:t>/37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D5BAFA-2003-15EF-5219-46F5B7F42860}"/>
                  </a:ext>
                </a:extLst>
              </p:cNvPr>
              <p:cNvSpPr txBox="1"/>
              <p:nvPr/>
            </p:nvSpPr>
            <p:spPr>
              <a:xfrm>
                <a:off x="361107" y="938140"/>
                <a:ext cx="8213398" cy="12618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Mục </a:t>
                </a:r>
                <a:r>
                  <a:rPr lang="en-US" b="1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đích</a:t>
                </a: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: 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Do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số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lượng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câu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bằng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chứng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thay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đổi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theo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từng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claim, do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đó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t</a:t>
                </a:r>
                <a:r>
                  <a:rPr lang="vi-VN"/>
                  <a:t>hay vì chọn số lượng câu cố định, </a:t>
                </a:r>
                <a:r>
                  <a:rPr lang="en-US" err="1"/>
                  <a:t>nhóm</a:t>
                </a:r>
                <a:r>
                  <a:rPr lang="en-US"/>
                  <a:t> </a:t>
                </a:r>
                <a:r>
                  <a:rPr lang="vi-VN"/>
                  <a:t>đề xuất </a:t>
                </a:r>
                <a:r>
                  <a:rPr lang="vi-VN" b="1"/>
                  <a:t>chiến lược chọn bằng chứng động</a:t>
                </a:r>
                <a:endParaRPr lang="en-US"/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b="1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Đầu</a:t>
                </a: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b="1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vào</a:t>
                </a: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: 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Các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văn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bản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liên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quan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𝑑</m:t>
                    </m:r>
                  </m:oMath>
                </a14:m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được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trích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xuất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.</a:t>
                </a: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b="1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Đầu</a:t>
                </a: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b="1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ra</a:t>
                </a: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: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tập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các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câu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là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bằng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chứng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}</m:t>
                    </m:r>
                  </m:oMath>
                </a14:m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cho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𝑐</m:t>
                    </m:r>
                  </m:oMath>
                </a14:m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D5BAFA-2003-15EF-5219-46F5B7F42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07" y="938140"/>
                <a:ext cx="8213398" cy="1261884"/>
              </a:xfrm>
              <a:prstGeom prst="rect">
                <a:avLst/>
              </a:prstGeom>
              <a:blipFill>
                <a:blip r:embed="rId3"/>
                <a:stretch>
                  <a:fillRect l="-74" t="-966" b="-3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Google Shape;1103;p33">
            <a:extLst>
              <a:ext uri="{FF2B5EF4-FFF2-40B4-BE49-F238E27FC236}">
                <a16:creationId xmlns:a16="http://schemas.microsoft.com/office/drawing/2014/main" id="{AF0EE53E-9D14-8128-9D49-4DD9AB868EAC}"/>
              </a:ext>
            </a:extLst>
          </p:cNvPr>
          <p:cNvSpPr txBox="1">
            <a:spLocks/>
          </p:cNvSpPr>
          <p:nvPr/>
        </p:nvSpPr>
        <p:spPr>
          <a:xfrm>
            <a:off x="250747" y="2202745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>
                <a:latin typeface="Arial"/>
                <a:cs typeface="Arial"/>
              </a:rPr>
              <a:t>Các </a:t>
            </a:r>
            <a:r>
              <a:rPr lang="en-US" sz="1600" err="1">
                <a:latin typeface="Arial"/>
                <a:cs typeface="Arial"/>
              </a:rPr>
              <a:t>bước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thực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hiện</a:t>
            </a:r>
            <a:endParaRPr lang="en-US" sz="16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0F7E77-8D3F-A5A2-81FB-2B47537502F6}"/>
                  </a:ext>
                </a:extLst>
              </p:cNvPr>
              <p:cNvSpPr txBox="1"/>
              <p:nvPr/>
            </p:nvSpPr>
            <p:spPr>
              <a:xfrm>
                <a:off x="361107" y="2676064"/>
                <a:ext cx="8213398" cy="1046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Top-k Filtering: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truy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vấn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tập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ứng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viên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}</m:t>
                    </m:r>
                  </m:oMath>
                </a14:m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từ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“Best URL”,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𝑘𝑇𝑜𝑝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=10</m:t>
                    </m:r>
                  </m:oMath>
                </a14:m>
                <a:endParaRPr lang="en-US" b="1">
                  <a:latin typeface="+mj-lt"/>
                  <a:ea typeface="Ebrima" panose="02000000000000000000" pitchFamily="2" charset="0"/>
                  <a:cs typeface="Ebrima" panose="02000000000000000000" pitchFamily="2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Cross-Encoder Reranking: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Xếp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hạng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các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ứng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viên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với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Vietnamese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Reranker</a:t>
                </a:r>
                <a:endParaRPr lang="en-US">
                  <a:latin typeface="+mj-lt"/>
                  <a:ea typeface="Ebrima" panose="02000000000000000000" pitchFamily="2" charset="0"/>
                  <a:cs typeface="Ebrima" panose="02000000000000000000" pitchFamily="2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b="1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Hierachiral</a:t>
                </a: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Selection Logic:</a:t>
                </a:r>
                <a:endParaRPr lang="en-US">
                  <a:latin typeface="+mj-lt"/>
                  <a:ea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0F7E77-8D3F-A5A2-81FB-2B4753750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07" y="2676064"/>
                <a:ext cx="8213398" cy="1046440"/>
              </a:xfrm>
              <a:prstGeom prst="rect">
                <a:avLst/>
              </a:prstGeom>
              <a:blipFill>
                <a:blip r:embed="rId4"/>
                <a:stretch>
                  <a:fillRect l="-74" t="-1163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1DD8FD-11C4-0EE2-6A0A-A615C53DF608}"/>
                  </a:ext>
                </a:extLst>
              </p:cNvPr>
              <p:cNvSpPr txBox="1"/>
              <p:nvPr/>
            </p:nvSpPr>
            <p:spPr>
              <a:xfrm>
                <a:off x="573067" y="3722504"/>
                <a:ext cx="8213398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High Confidence Selection: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},       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=0.75</m:t>
                    </m:r>
                  </m:oMath>
                </a14:m>
                <a:endParaRPr lang="en-US">
                  <a:latin typeface="+mj-lt"/>
                  <a:ea typeface="Ebrima" panose="02000000000000000000" pitchFamily="2" charset="0"/>
                  <a:cs typeface="Ebrima" panose="02000000000000000000" pitchFamily="2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Relative Gap Selection: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Ebrima" panose="02000000000000000000" pitchFamily="2" charset="0"/>
                      </a:rPr>
                      <m:t>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Ebrima" panose="02000000000000000000" pitchFamily="2" charset="0"/>
                      </a:rPr>
                      <m:t>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Ebrima" panose="020000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Ebrima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Ebrima" panose="02000000000000000000" pitchFamily="2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Ebrima" panose="02000000000000000000" pitchFamily="2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Ebrima" panose="02000000000000000000" pitchFamily="2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Ebrima" panose="02000000000000000000" pitchFamily="2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Ebrima" panose="02000000000000000000" pitchFamily="2" charset="0"/>
                      </a:rPr>
                      <m:t>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Ebrima" panose="020000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Ebrima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Ebrima" panose="02000000000000000000" pitchFamily="2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Ebrima" panose="02000000000000000000" pitchFamily="2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Ebrima" panose="02000000000000000000" pitchFamily="2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Ebrima" panose="02000000000000000000" pitchFamily="2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Ebrima" panose="02000000000000000000" pitchFamily="2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Ebrima" panose="02000000000000000000" pitchFamily="2" charset="0"/>
                      </a:rPr>
                      <m:t>,          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Ebrima" panose="02000000000000000000" pitchFamily="2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Ebrima" panose="02000000000000000000" pitchFamily="2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Ebrima" panose="02000000000000000000" pitchFamily="2" charset="0"/>
                      </a:rPr>
                      <m:t>=0.05</m:t>
                    </m:r>
                  </m:oMath>
                </a14:m>
                <a:endParaRPr lang="en-US">
                  <a:latin typeface="+mj-lt"/>
                  <a:ea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1DD8FD-11C4-0EE2-6A0A-A615C53DF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67" y="3722504"/>
                <a:ext cx="8213398" cy="677108"/>
              </a:xfrm>
              <a:prstGeom prst="rect">
                <a:avLst/>
              </a:prstGeom>
              <a:blipFill>
                <a:blip r:embed="rId5"/>
                <a:stretch>
                  <a:fillRect l="-74" t="-1802"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8147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5FCE2EB8-ED22-3F7D-BA2F-FDFD7ADC6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7A0A2463-3A1E-AAD7-7006-6A125F18AE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>
                <a:solidFill>
                  <a:schemeClr val="bg1"/>
                </a:solidFill>
                <a:latin typeface="Arial"/>
                <a:cs typeface="Arial"/>
              </a:rPr>
              <a:t>Phương pháp</a:t>
            </a: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F42849F4-B218-9F37-DC06-8C9B38A09436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>
                <a:latin typeface="Arial"/>
                <a:cs typeface="Arial"/>
              </a:rPr>
              <a:t>Module Claim Verification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9009F-7A49-19C3-8016-123C553AF9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F24041CC-16BF-2C7D-AD1F-C78D5E8521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13</a:t>
            </a:fld>
            <a:r>
              <a:rPr lang="en-US">
                <a:latin typeface="Arial"/>
              </a:rPr>
              <a:t>/37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E753409-E625-958C-B08C-A87F875748BD}"/>
                  </a:ext>
                </a:extLst>
              </p:cNvPr>
              <p:cNvSpPr txBox="1"/>
              <p:nvPr/>
            </p:nvSpPr>
            <p:spPr>
              <a:xfrm>
                <a:off x="361107" y="940920"/>
                <a:ext cx="8213398" cy="1046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b="1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Mục</a:t>
                </a: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b="1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đích</a:t>
                </a: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: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Xác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thực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câu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claim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dựa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trên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các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bằng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chứng</a:t>
                </a:r>
                <a:endParaRPr lang="en-US" b="1">
                  <a:latin typeface="+mj-lt"/>
                  <a:ea typeface="Ebrima" panose="02000000000000000000" pitchFamily="2" charset="0"/>
                  <a:cs typeface="Ebrima" panose="02000000000000000000" pitchFamily="2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b="1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Đầu</a:t>
                </a: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b="1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vào</a:t>
                </a: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: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Một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câu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claim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𝑐</m:t>
                    </m:r>
                  </m:oMath>
                </a14:m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,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các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bằng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chứng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𝐸</m:t>
                    </m:r>
                  </m:oMath>
                </a14:m>
                <a:endParaRPr lang="en-US" b="1">
                  <a:latin typeface="+mj-lt"/>
                  <a:ea typeface="Ebrima" panose="02000000000000000000" pitchFamily="2" charset="0"/>
                  <a:cs typeface="Ebrima" panose="02000000000000000000" pitchFamily="2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b="1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Đầu</a:t>
                </a: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b="1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ra</a:t>
                </a:r>
                <a:r>
                  <a:rPr lang="en-US" b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: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Xác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thực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câu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claim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𝑐</m:t>
                    </m:r>
                  </m:oMath>
                </a14:m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là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đúng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,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sai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hoặc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không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đủ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err="1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thông</a:t>
                </a:r>
                <a:r>
                  <a:rPr lang="en-US">
                    <a:latin typeface="+mj-lt"/>
                    <a:ea typeface="Ebrima" panose="02000000000000000000" pitchFamily="2" charset="0"/>
                    <a:cs typeface="Ebrima" panose="02000000000000000000" pitchFamily="2" charset="0"/>
                  </a:rPr>
                  <a:t> tin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E753409-E625-958C-B08C-A87F87574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07" y="940920"/>
                <a:ext cx="8213398" cy="1046440"/>
              </a:xfrm>
              <a:prstGeom prst="rect">
                <a:avLst/>
              </a:prstGeom>
              <a:blipFill>
                <a:blip r:embed="rId3"/>
                <a:stretch>
                  <a:fillRect l="-74" t="-581" b="-5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FC2971B1-9CCD-A8CE-BB29-C4F252B0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636" y="2188519"/>
            <a:ext cx="6286727" cy="2323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462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D12DFF06-B1EB-12A3-9E71-10E1B43C9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E9F018A3-9BB3-CB46-489A-42AC3CBE4D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>
                <a:solidFill>
                  <a:schemeClr val="bg1"/>
                </a:solidFill>
                <a:latin typeface="Arial"/>
                <a:cs typeface="Arial"/>
              </a:rPr>
              <a:t>Phương pháp</a:t>
            </a: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17F4976B-7F07-09CE-9C3E-1BCDC42436BB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>
                <a:latin typeface="Arial"/>
                <a:cs typeface="Arial"/>
              </a:rPr>
              <a:t>Module Claim Verification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FD964-2511-527D-64D0-61E77522F8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28B9B98-525F-C0D1-28AC-FF98023104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14</a:t>
            </a:fld>
            <a:r>
              <a:rPr lang="en-US">
                <a:latin typeface="Arial"/>
              </a:rPr>
              <a:t>/37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10651D-2753-54A2-0D72-868AFDEA249E}"/>
              </a:ext>
            </a:extLst>
          </p:cNvPr>
          <p:cNvSpPr txBox="1"/>
          <p:nvPr/>
        </p:nvSpPr>
        <p:spPr>
          <a:xfrm>
            <a:off x="361107" y="938140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>
                <a:ea typeface="Ebrima" panose="02000000000000000000" pitchFamily="2" charset="0"/>
              </a:rPr>
              <a:t>Các </a:t>
            </a:r>
            <a:r>
              <a:rPr lang="en-US" b="1" err="1">
                <a:ea typeface="Ebrima" panose="02000000000000000000" pitchFamily="2" charset="0"/>
              </a:rPr>
              <a:t>mô</a:t>
            </a:r>
            <a:r>
              <a:rPr lang="en-US" b="1">
                <a:ea typeface="Ebrima" panose="02000000000000000000" pitchFamily="2" charset="0"/>
              </a:rPr>
              <a:t> </a:t>
            </a:r>
            <a:r>
              <a:rPr lang="en-US" b="1" err="1">
                <a:ea typeface="Ebrima" panose="02000000000000000000" pitchFamily="2" charset="0"/>
              </a:rPr>
              <a:t>hình</a:t>
            </a:r>
            <a:r>
              <a:rPr lang="en-US" b="1">
                <a:ea typeface="Ebrima" panose="02000000000000000000" pitchFamily="2" charset="0"/>
              </a:rPr>
              <a:t> </a:t>
            </a:r>
            <a:r>
              <a:rPr lang="en-US" b="1" err="1">
                <a:ea typeface="Ebrima" panose="02000000000000000000" pitchFamily="2" charset="0"/>
              </a:rPr>
              <a:t>sử</a:t>
            </a:r>
            <a:r>
              <a:rPr lang="en-US" b="1">
                <a:ea typeface="Ebrima" panose="02000000000000000000" pitchFamily="2" charset="0"/>
              </a:rPr>
              <a:t> </a:t>
            </a:r>
            <a:r>
              <a:rPr lang="en-US" b="1" err="1">
                <a:ea typeface="Ebrima" panose="02000000000000000000" pitchFamily="2" charset="0"/>
              </a:rPr>
              <a:t>dụng</a:t>
            </a:r>
            <a:r>
              <a:rPr lang="en-US" b="1">
                <a:ea typeface="Ebrima" panose="02000000000000000000" pitchFamily="2" charset="0"/>
              </a:rPr>
              <a:t>: </a:t>
            </a:r>
            <a:r>
              <a:rPr lang="en-US" err="1">
                <a:ea typeface="Ebrima" panose="02000000000000000000" pitchFamily="2" charset="0"/>
              </a:rPr>
              <a:t>PhoBERT</a:t>
            </a:r>
            <a:r>
              <a:rPr lang="en-US">
                <a:ea typeface="Ebrima" panose="02000000000000000000" pitchFamily="2" charset="0"/>
              </a:rPr>
              <a:t>, </a:t>
            </a:r>
            <a:r>
              <a:rPr lang="en-US" err="1">
                <a:ea typeface="Ebrima" panose="02000000000000000000" pitchFamily="2" charset="0"/>
              </a:rPr>
              <a:t>ViBERT</a:t>
            </a:r>
            <a:r>
              <a:rPr lang="en-US">
                <a:ea typeface="Ebrima" panose="02000000000000000000" pitchFamily="2" charset="0"/>
              </a:rPr>
              <a:t>, </a:t>
            </a:r>
            <a:r>
              <a:rPr lang="en-US" err="1">
                <a:ea typeface="Ebrima" panose="02000000000000000000" pitchFamily="2" charset="0"/>
              </a:rPr>
              <a:t>mBERT</a:t>
            </a:r>
            <a:r>
              <a:rPr lang="en-US">
                <a:ea typeface="Ebrima" panose="02000000000000000000" pitchFamily="2" charset="0"/>
              </a:rPr>
              <a:t>, XLM-R</a:t>
            </a:r>
            <a:endParaRPr lang="en-US" b="1">
              <a:ea typeface="Ebrima" panose="020000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41B2D5-16FC-1705-1596-B66071CB9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35" y="1497133"/>
            <a:ext cx="8157129" cy="214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0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C3D74D93-6934-A853-0222-8DDB7893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EE5B4A23-F736-9002-E37E-9B8461045B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>
                <a:solidFill>
                  <a:schemeClr val="bg1"/>
                </a:solidFill>
                <a:latin typeface="Arial"/>
                <a:cs typeface="Arial"/>
              </a:rPr>
              <a:t>Phương pháp</a:t>
            </a: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F69E9961-EDED-78E4-DE7C-20BDB30E32FD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>
                <a:latin typeface="Arial"/>
                <a:cs typeface="Arial"/>
              </a:rPr>
              <a:t>Module Claim Verification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3F639-C899-3F80-F27F-A18AB669AE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2AD10DCC-7460-0020-8565-81E181DBDF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15</a:t>
            </a:fld>
            <a:r>
              <a:rPr lang="en-US">
                <a:latin typeface="Arial"/>
              </a:rPr>
              <a:t>/37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CACBF3-751E-CDA5-9EB7-63CB1C2C9B27}"/>
              </a:ext>
            </a:extLst>
          </p:cNvPr>
          <p:cNvSpPr txBox="1"/>
          <p:nvPr/>
        </p:nvSpPr>
        <p:spPr>
          <a:xfrm>
            <a:off x="361107" y="938140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err="1">
                <a:ea typeface="Ebrima" panose="02000000000000000000" pitchFamily="2" charset="0"/>
              </a:rPr>
              <a:t>Thiết</a:t>
            </a:r>
            <a:r>
              <a:rPr lang="en-US" b="1">
                <a:ea typeface="Ebrima" panose="02000000000000000000" pitchFamily="2" charset="0"/>
              </a:rPr>
              <a:t> </a:t>
            </a:r>
            <a:r>
              <a:rPr lang="en-US" b="1" err="1">
                <a:ea typeface="Ebrima" panose="02000000000000000000" pitchFamily="2" charset="0"/>
              </a:rPr>
              <a:t>lập</a:t>
            </a:r>
            <a:r>
              <a:rPr lang="en-US" b="1">
                <a:ea typeface="Ebrima" panose="02000000000000000000" pitchFamily="2" charset="0"/>
              </a:rPr>
              <a:t> </a:t>
            </a:r>
            <a:r>
              <a:rPr lang="en-US" b="1" err="1">
                <a:ea typeface="Ebrima" panose="02000000000000000000" pitchFamily="2" charset="0"/>
              </a:rPr>
              <a:t>tham</a:t>
            </a:r>
            <a:r>
              <a:rPr lang="en-US" b="1">
                <a:ea typeface="Ebrima" panose="02000000000000000000" pitchFamily="2" charset="0"/>
              </a:rPr>
              <a:t> </a:t>
            </a:r>
            <a:r>
              <a:rPr lang="en-US" b="1" err="1">
                <a:ea typeface="Ebrima" panose="02000000000000000000" pitchFamily="2" charset="0"/>
              </a:rPr>
              <a:t>số</a:t>
            </a:r>
            <a:endParaRPr lang="en-US" b="1">
              <a:ea typeface="Ebrima" panose="02000000000000000000" pitchFamily="2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B76559D-2EA7-9636-00E2-A6ADB82C6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41530"/>
              </p:ext>
            </p:extLst>
          </p:nvPr>
        </p:nvGraphicFramePr>
        <p:xfrm>
          <a:off x="2540000" y="1459230"/>
          <a:ext cx="4064000" cy="2225040"/>
        </p:xfrm>
        <a:graphic>
          <a:graphicData uri="http://schemas.openxmlformats.org/drawingml/2006/table">
            <a:tbl>
              <a:tblPr firstRow="1" bandRow="1">
                <a:tableStyleId>{39BA2641-D294-400E-9163-D9D63B1CB30C}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727354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94264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Các </a:t>
                      </a:r>
                      <a:r>
                        <a:rPr lang="en-US" b="1" err="1"/>
                        <a:t>siêu</a:t>
                      </a:r>
                      <a:r>
                        <a:rPr lang="en-US" b="1"/>
                        <a:t> </a:t>
                      </a:r>
                      <a:r>
                        <a:rPr lang="en-US" b="1" err="1"/>
                        <a:t>tham</a:t>
                      </a:r>
                      <a:r>
                        <a:rPr lang="en-US" b="1"/>
                        <a:t> </a:t>
                      </a:r>
                      <a:r>
                        <a:rPr lang="en-US" b="1" err="1"/>
                        <a:t>số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Giá</a:t>
                      </a:r>
                      <a:r>
                        <a:rPr lang="en-US" b="1"/>
                        <a:t> </a:t>
                      </a:r>
                      <a:r>
                        <a:rPr lang="en-US" b="1" err="1"/>
                        <a:t>trị</a:t>
                      </a:r>
                      <a:endParaRPr lang="en-US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359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Epochs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215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29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AdamW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795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Learning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5e-6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041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Dropout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639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5174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F9D4FE20-BF4B-4960-DCCE-77AAE5320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6FBCE744-3836-F994-D194-9D8BA25862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err="1">
                <a:latin typeface="Arial"/>
                <a:cs typeface="Arial"/>
              </a:rPr>
              <a:t>Thực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nghiệm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E69D3-F472-54C3-D797-2F4F110B42EF}"/>
              </a:ext>
            </a:extLst>
          </p:cNvPr>
          <p:cNvSpPr txBox="1"/>
          <p:nvPr/>
        </p:nvSpPr>
        <p:spPr>
          <a:xfrm>
            <a:off x="361107" y="938140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err="1"/>
              <a:t>Mô</a:t>
            </a:r>
            <a:r>
              <a:rPr lang="en-US" b="1"/>
              <a:t> </a:t>
            </a:r>
            <a:r>
              <a:rPr lang="en-US" b="1" err="1"/>
              <a:t>tả</a:t>
            </a:r>
            <a:r>
              <a:rPr lang="en-US" b="1"/>
              <a:t>: </a:t>
            </a: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566894B3-5634-EF7A-BBC3-B7F976A6B9D3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 err="1">
                <a:latin typeface="Arial"/>
                <a:cs typeface="Arial"/>
              </a:rPr>
              <a:t>Bộ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dữ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liệu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Vifactcheck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F2E4E-89C8-DBE2-E1EE-3500171B3C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C73D7E59-7698-4030-8A72-21A8008686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16</a:t>
            </a:fld>
            <a:r>
              <a:rPr lang="en-US">
                <a:latin typeface="Arial"/>
              </a:rPr>
              <a:t>/37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04D6B8-23EC-C100-1046-4018D8137734}"/>
              </a:ext>
            </a:extLst>
          </p:cNvPr>
          <p:cNvSpPr txBox="1"/>
          <p:nvPr/>
        </p:nvSpPr>
        <p:spPr>
          <a:xfrm>
            <a:off x="569495" y="1245917"/>
            <a:ext cx="82133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/>
              <a:t>B</a:t>
            </a:r>
            <a:r>
              <a:rPr lang="vi-VN"/>
              <a:t>enchmark fact-checking tiếng Việt được xây dựng nhằm giải quyết sự thiếu hụt tài nguyên chất lượng cao cho bài toán phát hiện và xác minh tin giả.</a:t>
            </a:r>
            <a:endParaRPr lang="en-US"/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/>
              <a:t>G</a:t>
            </a:r>
            <a:r>
              <a:rPr lang="vi-VN"/>
              <a:t>ồm </a:t>
            </a:r>
            <a:r>
              <a:rPr lang="vi-VN" b="1"/>
              <a:t>7,232 cặp claim–evidence</a:t>
            </a:r>
            <a:r>
              <a:rPr lang="vi-VN"/>
              <a:t>, được </a:t>
            </a:r>
            <a:r>
              <a:rPr lang="vi-VN" b="1"/>
              <a:t>gán nhãn thủ công</a:t>
            </a:r>
            <a:r>
              <a:rPr lang="vi-VN"/>
              <a:t> bởi chuyên gia.</a:t>
            </a:r>
            <a:endParaRPr lang="en-US"/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vi-VN"/>
              <a:t>Toàn bộ dữ liệu được xây dựng </a:t>
            </a:r>
            <a:r>
              <a:rPr lang="vi-VN" b="1"/>
              <a:t>100% bằng tiếng Việt</a:t>
            </a:r>
            <a:r>
              <a:rPr lang="vi-VN"/>
              <a:t>, phản ánh đầy đủ </a:t>
            </a:r>
            <a:r>
              <a:rPr lang="vi-VN" b="1"/>
              <a:t>cú pháp, ngữ nghĩa và đặc thù ngôn ngữ bản địa</a:t>
            </a:r>
            <a:r>
              <a:rPr lang="vi-VN"/>
              <a:t>.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5A167B-209D-6854-C8E2-4D189E60C4D8}"/>
              </a:ext>
            </a:extLst>
          </p:cNvPr>
          <p:cNvSpPr txBox="1"/>
          <p:nvPr/>
        </p:nvSpPr>
        <p:spPr>
          <a:xfrm>
            <a:off x="569495" y="3028242"/>
            <a:ext cx="8203608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b="1">
                <a:ea typeface="Ebrima"/>
              </a:rPr>
              <a:t>Benchmark</a:t>
            </a:r>
            <a:r>
              <a:rPr lang="en-US">
                <a:ea typeface="Ebrima"/>
              </a:rPr>
              <a:t> </a:t>
            </a:r>
            <a:r>
              <a:rPr lang="en-US" err="1">
                <a:ea typeface="Ebrima"/>
              </a:rPr>
              <a:t>các</a:t>
            </a:r>
            <a:r>
              <a:rPr lang="en-US">
                <a:ea typeface="Ebrima"/>
              </a:rPr>
              <a:t> </a:t>
            </a:r>
            <a:r>
              <a:rPr lang="en-US" b="1">
                <a:ea typeface="Ebrima"/>
              </a:rPr>
              <a:t>PLMs</a:t>
            </a:r>
            <a:r>
              <a:rPr lang="en-US">
                <a:ea typeface="Ebrima"/>
              </a:rPr>
              <a:t> </a:t>
            </a:r>
            <a:r>
              <a:rPr lang="en-US" err="1">
                <a:ea typeface="Ebrima"/>
              </a:rPr>
              <a:t>trên</a:t>
            </a:r>
            <a:r>
              <a:rPr lang="en-US">
                <a:ea typeface="Ebrima"/>
              </a:rPr>
              <a:t> </a:t>
            </a:r>
            <a:r>
              <a:rPr lang="en-US" err="1">
                <a:ea typeface="Ebrima"/>
              </a:rPr>
              <a:t>các</a:t>
            </a:r>
            <a:r>
              <a:rPr lang="en-US">
                <a:ea typeface="Ebrima"/>
              </a:rPr>
              <a:t> </a:t>
            </a:r>
            <a:r>
              <a:rPr lang="en-US" err="1">
                <a:ea typeface="Ebrima"/>
              </a:rPr>
              <a:t>tác</a:t>
            </a:r>
            <a:r>
              <a:rPr lang="en-US">
                <a:ea typeface="Ebrima"/>
              </a:rPr>
              <a:t> </a:t>
            </a:r>
            <a:r>
              <a:rPr lang="en-US" err="1">
                <a:ea typeface="Ebrima"/>
              </a:rPr>
              <a:t>vụ</a:t>
            </a:r>
            <a:r>
              <a:rPr lang="en-US">
                <a:ea typeface="Ebrima"/>
              </a:rPr>
              <a:t> </a:t>
            </a:r>
            <a:r>
              <a:rPr lang="en-US" b="1">
                <a:ea typeface="Ebrima"/>
              </a:rPr>
              <a:t>Claim Verification, Evidence Selection </a:t>
            </a:r>
            <a:r>
              <a:rPr lang="en-US" b="1" err="1">
                <a:ea typeface="Ebrima"/>
              </a:rPr>
              <a:t>và</a:t>
            </a:r>
            <a:r>
              <a:rPr lang="en-US" b="1">
                <a:ea typeface="Ebrima"/>
              </a:rPr>
              <a:t> Document Retrieval </a:t>
            </a:r>
            <a:r>
              <a:rPr lang="en-US" err="1">
                <a:ea typeface="Ebrima"/>
              </a:rPr>
              <a:t>trong</a:t>
            </a:r>
            <a:r>
              <a:rPr lang="en-US">
                <a:ea typeface="Ebrima"/>
              </a:rPr>
              <a:t> </a:t>
            </a:r>
            <a:r>
              <a:rPr lang="en-US" err="1">
                <a:ea typeface="Ebrima"/>
              </a:rPr>
              <a:t>kịch</a:t>
            </a:r>
            <a:r>
              <a:rPr lang="en-US">
                <a:ea typeface="Ebrima"/>
              </a:rPr>
              <a:t> </a:t>
            </a:r>
            <a:r>
              <a:rPr lang="en-US" err="1">
                <a:ea typeface="Ebrima"/>
              </a:rPr>
              <a:t>bản</a:t>
            </a:r>
            <a:r>
              <a:rPr lang="en-US">
                <a:ea typeface="Ebrima"/>
              </a:rPr>
              <a:t> tin </a:t>
            </a:r>
            <a:r>
              <a:rPr lang="en-US" err="1">
                <a:ea typeface="Ebrima"/>
              </a:rPr>
              <a:t>tức</a:t>
            </a:r>
            <a:r>
              <a:rPr lang="en-US">
                <a:ea typeface="Ebrima"/>
              </a:rPr>
              <a:t> </a:t>
            </a:r>
            <a:r>
              <a:rPr lang="en-US" err="1">
                <a:ea typeface="Ebrima"/>
              </a:rPr>
              <a:t>thực</a:t>
            </a:r>
            <a:r>
              <a:rPr lang="en-US">
                <a:ea typeface="Ebrima"/>
              </a:rPr>
              <a:t> </a:t>
            </a:r>
            <a:r>
              <a:rPr lang="en-US" err="1">
                <a:ea typeface="Ebrima"/>
              </a:rPr>
              <a:t>tế</a:t>
            </a:r>
            <a:r>
              <a:rPr lang="en-US">
                <a:ea typeface="Ebrima"/>
              </a:rPr>
              <a:t>, </a:t>
            </a:r>
            <a:r>
              <a:rPr lang="en-US" err="1">
                <a:ea typeface="Ebrima"/>
              </a:rPr>
              <a:t>đa</a:t>
            </a:r>
            <a:r>
              <a:rPr lang="en-US">
                <a:ea typeface="Ebrima"/>
              </a:rPr>
              <a:t> </a:t>
            </a:r>
            <a:r>
              <a:rPr lang="en-US" err="1">
                <a:ea typeface="Ebrima"/>
              </a:rPr>
              <a:t>lĩnh</a:t>
            </a:r>
            <a:r>
              <a:rPr lang="en-US">
                <a:ea typeface="Ebrima"/>
              </a:rPr>
              <a:t> </a:t>
            </a:r>
            <a:r>
              <a:rPr lang="en-US" err="1">
                <a:ea typeface="Ebrima"/>
              </a:rPr>
              <a:t>vực</a:t>
            </a:r>
            <a:r>
              <a:rPr lang="en-US">
                <a:ea typeface="Ebrima"/>
              </a:rPr>
              <a:t> ở Việt Nam.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A06F83-D775-3518-9EE7-AD4F88374977}"/>
              </a:ext>
            </a:extLst>
          </p:cNvPr>
          <p:cNvSpPr txBox="1"/>
          <p:nvPr/>
        </p:nvSpPr>
        <p:spPr>
          <a:xfrm>
            <a:off x="361107" y="2720465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err="1"/>
              <a:t>Mục</a:t>
            </a:r>
            <a:r>
              <a:rPr lang="en-US" b="1"/>
              <a:t> </a:t>
            </a:r>
            <a:r>
              <a:rPr lang="en-US" b="1" err="1"/>
              <a:t>đích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733506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6874C159-4F28-13BA-8951-7E14FC33B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EE5F3AF3-9CCC-EA40-E01E-43596D00AC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err="1">
                <a:latin typeface="Arial"/>
                <a:cs typeface="Arial"/>
              </a:rPr>
              <a:t>Thực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nghiệm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79D796BA-A087-8A17-CBFE-42A09B4E8C64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 err="1">
                <a:latin typeface="Arial"/>
                <a:cs typeface="Arial"/>
              </a:rPr>
              <a:t>Bộ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dữ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liệu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Vifactcheck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FE6AA-CB74-81D8-71FE-D0AE25212A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20086934-101A-6D38-51F5-C721C731C8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17</a:t>
            </a:fld>
            <a:r>
              <a:rPr lang="en-US">
                <a:latin typeface="Arial"/>
              </a:rPr>
              <a:t>/37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E27CFC-F56A-5B0C-4EB7-8895CAACD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1884" y="3095460"/>
            <a:ext cx="4960229" cy="17734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17EC6E-8B8C-3E83-F775-CE07A9510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128" y="920549"/>
            <a:ext cx="3365743" cy="19165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8563E5-96F4-A67E-3789-82B072FC4706}"/>
              </a:ext>
            </a:extLst>
          </p:cNvPr>
          <p:cNvSpPr txBox="1"/>
          <p:nvPr/>
        </p:nvSpPr>
        <p:spPr>
          <a:xfrm>
            <a:off x="361107" y="938140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/>
              <a:t>Cách </a:t>
            </a:r>
            <a:r>
              <a:rPr lang="en-US" b="1" err="1"/>
              <a:t>xây</a:t>
            </a:r>
            <a:r>
              <a:rPr lang="en-US" b="1"/>
              <a:t> </a:t>
            </a:r>
            <a:r>
              <a:rPr lang="en-US" b="1" err="1"/>
              <a:t>dựng</a:t>
            </a:r>
            <a:endParaRPr 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8BF46A-AD1E-7744-425E-421BD937D51C}"/>
              </a:ext>
            </a:extLst>
          </p:cNvPr>
          <p:cNvSpPr txBox="1"/>
          <p:nvPr/>
        </p:nvSpPr>
        <p:spPr>
          <a:xfrm>
            <a:off x="361107" y="2772311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err="1"/>
              <a:t>Nguồn</a:t>
            </a:r>
            <a:r>
              <a:rPr lang="en-US" b="1"/>
              <a:t> </a:t>
            </a:r>
            <a:r>
              <a:rPr lang="en-US" b="1" err="1"/>
              <a:t>thu</a:t>
            </a:r>
            <a:r>
              <a:rPr lang="en-US" b="1"/>
              <a:t> </a:t>
            </a:r>
            <a:r>
              <a:rPr lang="en-US" b="1" err="1"/>
              <a:t>thập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506903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690FB87A-2AFC-3E7F-066D-31A9C5117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83D3C2F3-A13B-AB46-7344-677F0C2F5F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err="1">
                <a:latin typeface="Arial"/>
                <a:cs typeface="Arial"/>
              </a:rPr>
              <a:t>Thực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nghiệm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4DC4E8F2-6012-666C-ABD2-AD2DBA9B39AE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 err="1">
                <a:latin typeface="Arial"/>
                <a:cs typeface="Arial"/>
              </a:rPr>
              <a:t>Bộ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dữ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liệu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Vifactcheck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CA2E9-BBC6-A2E6-5218-7985426977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2C2A5D5-EA1F-4C06-6E92-7177EECFCB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18</a:t>
            </a:fld>
            <a:r>
              <a:rPr lang="en-US">
                <a:latin typeface="Arial"/>
              </a:rPr>
              <a:t>/37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FBF15E-0DEF-A0C8-79D8-7948AEF5BBE7}"/>
              </a:ext>
            </a:extLst>
          </p:cNvPr>
          <p:cNvSpPr txBox="1"/>
          <p:nvPr/>
        </p:nvSpPr>
        <p:spPr>
          <a:xfrm>
            <a:off x="361107" y="938140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err="1"/>
              <a:t>Thống</a:t>
            </a:r>
            <a:r>
              <a:rPr lang="en-US" b="1"/>
              <a:t> </a:t>
            </a:r>
            <a:r>
              <a:rPr lang="en-US" b="1" err="1"/>
              <a:t>kê</a:t>
            </a:r>
            <a:r>
              <a:rPr lang="en-US" b="1"/>
              <a:t> </a:t>
            </a:r>
            <a:r>
              <a:rPr lang="en-US" b="1" err="1"/>
              <a:t>dữ</a:t>
            </a:r>
            <a:r>
              <a:rPr lang="en-US" b="1"/>
              <a:t> </a:t>
            </a:r>
            <a:r>
              <a:rPr lang="en-US" b="1" err="1"/>
              <a:t>liệu</a:t>
            </a:r>
            <a:endParaRPr lang="en-US" b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5C1516-1154-0347-39EF-D5A7CB71E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998" y="1451539"/>
            <a:ext cx="4104003" cy="294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688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DBE4C659-5FD8-B4D9-579C-B79CB03B5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25BAC7E5-3ABD-45C7-569F-207980EBBD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err="1">
                <a:latin typeface="Arial"/>
                <a:cs typeface="Arial"/>
              </a:rPr>
              <a:t>Thực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nghiệm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E68EEA6E-A0B0-6A93-5526-2BD19318986F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 err="1">
                <a:latin typeface="Arial"/>
                <a:cs typeface="Arial"/>
              </a:rPr>
              <a:t>Bộ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dữ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liệu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Vifactcheck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01918-931A-E24F-1CEE-4D1F469FFE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A404A33-9BD2-AB52-09E0-9CFE904444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19</a:t>
            </a:fld>
            <a:r>
              <a:rPr lang="en-US">
                <a:latin typeface="Arial"/>
              </a:rPr>
              <a:t>/37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147301-37F3-28DE-5F4A-7FE1744676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859"/>
          <a:stretch>
            <a:fillRect/>
          </a:stretch>
        </p:blipFill>
        <p:spPr>
          <a:xfrm>
            <a:off x="626514" y="1472055"/>
            <a:ext cx="3786395" cy="273330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3C91DC1-AD49-7505-9C08-575D4C494D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915"/>
          <a:stretch>
            <a:fillRect/>
          </a:stretch>
        </p:blipFill>
        <p:spPr>
          <a:xfrm>
            <a:off x="4788110" y="1627817"/>
            <a:ext cx="3786395" cy="24217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A491D2-A65B-BA35-A53C-8037FF5DC586}"/>
              </a:ext>
            </a:extLst>
          </p:cNvPr>
          <p:cNvSpPr txBox="1"/>
          <p:nvPr/>
        </p:nvSpPr>
        <p:spPr>
          <a:xfrm>
            <a:off x="361107" y="938140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err="1"/>
              <a:t>Ví</a:t>
            </a:r>
            <a:r>
              <a:rPr lang="en-US" b="1"/>
              <a:t> </a:t>
            </a:r>
            <a:r>
              <a:rPr lang="en-US" b="1" err="1"/>
              <a:t>dụ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324506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0CBE3FD6-D9A4-A4C3-4766-295D618AD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80BEC96C-331B-41A6-C002-4154E25B0B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err="1">
                <a:latin typeface="Arial"/>
                <a:cs typeface="Arial"/>
              </a:rPr>
              <a:t>Thực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nghiệm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6AF13B81-D5F3-B43B-0CCE-981351A1BBEE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 err="1">
                <a:latin typeface="Arial"/>
                <a:cs typeface="Arial"/>
              </a:rPr>
              <a:t>Bộ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dữ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liệu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ViNewsCheck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8E415-CB0A-C896-0932-539D114D56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9FFF3AD-4735-00C9-A69B-78E3FAE097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20</a:t>
            </a:fld>
            <a:r>
              <a:rPr lang="en-US">
                <a:latin typeface="Arial"/>
              </a:rPr>
              <a:t>/37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DEFDA0-80A7-70BE-2ADE-134A1C3A8F1C}"/>
              </a:ext>
            </a:extLst>
          </p:cNvPr>
          <p:cNvSpPr txBox="1"/>
          <p:nvPr/>
        </p:nvSpPr>
        <p:spPr>
          <a:xfrm>
            <a:off x="569495" y="1245917"/>
            <a:ext cx="7822752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vi-VN" b="1"/>
              <a:t>ViNewsCheck</a:t>
            </a:r>
            <a:r>
              <a:rPr lang="vi-VN"/>
              <a:t> được xây dựng </a:t>
            </a:r>
            <a:r>
              <a:rPr lang="vi-VN" b="1"/>
              <a:t>trực tiếp từ ViFactCheck</a:t>
            </a:r>
            <a:r>
              <a:rPr lang="vi-VN"/>
              <a:t>, với mục tiêu mở rộng bài toán fact-checking</a:t>
            </a:r>
            <a:r>
              <a:rPr lang="en-US"/>
              <a:t> </a:t>
            </a:r>
            <a:r>
              <a:rPr lang="en-US" err="1"/>
              <a:t>từ</a:t>
            </a:r>
            <a:r>
              <a:rPr lang="en-US"/>
              <a:t> </a:t>
            </a:r>
            <a:r>
              <a:rPr lang="en-US" err="1"/>
              <a:t>cặp</a:t>
            </a:r>
            <a:r>
              <a:rPr lang="en-US"/>
              <a:t> claim-evidence </a:t>
            </a:r>
            <a:r>
              <a:rPr lang="en-US" err="1"/>
              <a:t>thành</a:t>
            </a:r>
            <a:r>
              <a:rPr lang="en-US"/>
              <a:t> </a:t>
            </a:r>
            <a:r>
              <a:rPr lang="en-US" err="1"/>
              <a:t>ngữ</a:t>
            </a:r>
            <a:r>
              <a:rPr lang="en-US"/>
              <a:t> </a:t>
            </a:r>
            <a:r>
              <a:rPr lang="en-US" err="1"/>
              <a:t>cảnh</a:t>
            </a:r>
            <a:r>
              <a:rPr lang="en-US"/>
              <a:t> tin </a:t>
            </a:r>
            <a:r>
              <a:rPr lang="en-US" err="1"/>
              <a:t>tức</a:t>
            </a:r>
            <a:r>
              <a:rPr lang="en-US"/>
              <a:t> </a:t>
            </a:r>
            <a:r>
              <a:rPr lang="en-US" err="1"/>
              <a:t>hoàn</a:t>
            </a:r>
            <a:r>
              <a:rPr lang="en-US"/>
              <a:t> </a:t>
            </a:r>
            <a:r>
              <a:rPr lang="en-US" err="1"/>
              <a:t>chỉnh</a:t>
            </a:r>
            <a:r>
              <a:rPr lang="en-US"/>
              <a:t>, </a:t>
            </a:r>
            <a:r>
              <a:rPr lang="en-US" err="1"/>
              <a:t>đa</a:t>
            </a:r>
            <a:r>
              <a:rPr lang="en-US"/>
              <a:t> claim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err="1"/>
              <a:t>Xây</a:t>
            </a:r>
            <a:r>
              <a:rPr lang="en-US"/>
              <a:t> </a:t>
            </a:r>
            <a:r>
              <a:rPr lang="en-US" err="1"/>
              <a:t>dựng</a:t>
            </a:r>
            <a:r>
              <a:rPr lang="en-US"/>
              <a:t> </a:t>
            </a:r>
            <a:r>
              <a:rPr lang="en-US" err="1"/>
              <a:t>thông</a:t>
            </a:r>
            <a:r>
              <a:rPr lang="en-US"/>
              <a:t> qua LLM </a:t>
            </a:r>
            <a:r>
              <a:rPr lang="en-US" err="1"/>
              <a:t>để</a:t>
            </a:r>
            <a:r>
              <a:rPr lang="en-US"/>
              <a:t> </a:t>
            </a:r>
            <a:r>
              <a:rPr lang="en-US" err="1"/>
              <a:t>tổng</a:t>
            </a:r>
            <a:r>
              <a:rPr lang="en-US"/>
              <a:t> </a:t>
            </a:r>
            <a:r>
              <a:rPr lang="en-US" err="1"/>
              <a:t>hợp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claim </a:t>
            </a:r>
            <a:r>
              <a:rPr lang="en-US" err="1"/>
              <a:t>này</a:t>
            </a:r>
            <a:r>
              <a:rPr lang="en-US"/>
              <a:t> </a:t>
            </a:r>
            <a:r>
              <a:rPr lang="en-US" err="1"/>
              <a:t>thành</a:t>
            </a:r>
            <a:r>
              <a:rPr lang="en-US"/>
              <a:t> </a:t>
            </a:r>
            <a:r>
              <a:rPr lang="en-US" b="1" err="1"/>
              <a:t>đoạn</a:t>
            </a:r>
            <a:r>
              <a:rPr lang="en-US" b="1"/>
              <a:t> tin </a:t>
            </a:r>
            <a:r>
              <a:rPr lang="en-US" b="1" err="1"/>
              <a:t>tức</a:t>
            </a:r>
            <a:r>
              <a:rPr lang="en-US" b="1"/>
              <a:t> </a:t>
            </a:r>
            <a:r>
              <a:rPr lang="en-US" b="1" err="1"/>
              <a:t>tích</a:t>
            </a:r>
            <a:r>
              <a:rPr lang="en-US" b="1"/>
              <a:t> </a:t>
            </a:r>
            <a:r>
              <a:rPr lang="en-US" b="1" err="1"/>
              <a:t>hợp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mạch</a:t>
            </a:r>
            <a:r>
              <a:rPr lang="en-US"/>
              <a:t> </a:t>
            </a:r>
            <a:r>
              <a:rPr lang="en-US" err="1"/>
              <a:t>nội</a:t>
            </a:r>
            <a:r>
              <a:rPr lang="en-US"/>
              <a:t> dung </a:t>
            </a:r>
            <a:r>
              <a:rPr lang="en-US" err="1"/>
              <a:t>thống</a:t>
            </a:r>
            <a:r>
              <a:rPr lang="en-US"/>
              <a:t> </a:t>
            </a:r>
            <a:r>
              <a:rPr lang="en-US" err="1"/>
              <a:t>nhất</a:t>
            </a:r>
            <a:endParaRPr lang="en-US"/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vi-VN"/>
              <a:t>Cách tiếp cận này giúp mô phỏng sát hơn </a:t>
            </a:r>
            <a:r>
              <a:rPr lang="vi-VN" b="1"/>
              <a:t>kịch bản kiểm chứng tin tức ngoài thực tế</a:t>
            </a:r>
            <a:r>
              <a:rPr lang="vi-VN"/>
              <a:t>, nơi một bài báo thường chứa nhiều phát biểu cần được xác minh đồng thời.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D9A493-9128-AFEC-E9D7-CED190B4E6E4}"/>
              </a:ext>
            </a:extLst>
          </p:cNvPr>
          <p:cNvSpPr txBox="1"/>
          <p:nvPr/>
        </p:nvSpPr>
        <p:spPr>
          <a:xfrm>
            <a:off x="361107" y="938140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err="1"/>
              <a:t>Mô</a:t>
            </a:r>
            <a:r>
              <a:rPr lang="en-US" b="1"/>
              <a:t> </a:t>
            </a:r>
            <a:r>
              <a:rPr lang="en-US" b="1" err="1"/>
              <a:t>tả</a:t>
            </a:r>
            <a:r>
              <a:rPr lang="en-US" b="1"/>
              <a:t>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B9BD80-8889-D1CC-6F57-4C9DF750EE62}"/>
              </a:ext>
            </a:extLst>
          </p:cNvPr>
          <p:cNvSpPr txBox="1"/>
          <p:nvPr/>
        </p:nvSpPr>
        <p:spPr>
          <a:xfrm>
            <a:off x="361107" y="2938688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err="1"/>
              <a:t>Mục</a:t>
            </a:r>
            <a:r>
              <a:rPr lang="en-US" b="1"/>
              <a:t> </a:t>
            </a:r>
            <a:r>
              <a:rPr lang="en-US" b="1" err="1"/>
              <a:t>đích</a:t>
            </a:r>
            <a:endParaRPr lang="en-US" b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B86520-3E23-6664-F641-F2FA4A37E96A}"/>
              </a:ext>
            </a:extLst>
          </p:cNvPr>
          <p:cNvSpPr txBox="1"/>
          <p:nvPr/>
        </p:nvSpPr>
        <p:spPr>
          <a:xfrm>
            <a:off x="569495" y="3250217"/>
            <a:ext cx="82929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vi-VN"/>
              <a:t>Đánh giá fact-checking ở mức độ bài báo (news-level) thay vì chỉ claim đơn lẻ, phản ánh sát hơn kịch bản sử dụng thực tế.</a:t>
            </a:r>
            <a:endParaRPr lang="en-US"/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vi-VN"/>
              <a:t>Đo lường khả năng hiểu nội dung và </a:t>
            </a:r>
            <a:r>
              <a:rPr lang="en-US" err="1"/>
              <a:t>suy</a:t>
            </a:r>
            <a:r>
              <a:rPr lang="en-US"/>
              <a:t> </a:t>
            </a:r>
            <a:r>
              <a:rPr lang="en-US" err="1"/>
              <a:t>luận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vi-VN"/>
              <a:t>mô hình PLM</a:t>
            </a:r>
            <a:r>
              <a:rPr lang="en-US"/>
              <a:t> </a:t>
            </a:r>
            <a:r>
              <a:rPr lang="en-US" err="1"/>
              <a:t>với</a:t>
            </a:r>
            <a:r>
              <a:rPr lang="en-US"/>
              <a:t> </a:t>
            </a:r>
            <a:r>
              <a:rPr lang="vi-VN"/>
              <a:t>bối cảnh tin tức tiếng Việt.</a:t>
            </a:r>
            <a:endParaRPr lang="en-US"/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vi-VN"/>
              <a:t>Thu hẹp khoảng cách giữa benchmark học thuật và ứng dụng, phục vụ phát triển các hệ thống fact-checking end-to-end cho tin tức trực tuyến.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959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8BF737E7-D839-14EA-0421-8484123C1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3D18DC2A-10A5-79E2-728B-CEF0296DA4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err="1">
                <a:latin typeface="Arial"/>
                <a:cs typeface="Arial"/>
              </a:rPr>
              <a:t>Thực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nghiệm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2503EB77-25A4-AA28-CAE5-CC1EF4E1C150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 err="1">
                <a:latin typeface="Arial"/>
                <a:cs typeface="Arial"/>
              </a:rPr>
              <a:t>Bộ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dữ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liệu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ViNewsCheck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6D50B-C80E-9CAF-0DF0-04C6292370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EDCD38D-3C0D-B5E2-012E-78E616E3D5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21</a:t>
            </a:fld>
            <a:r>
              <a:rPr lang="en-US">
                <a:latin typeface="Arial"/>
              </a:rPr>
              <a:t>/37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F76909-E577-A7B1-EFD5-C71A923D7519}"/>
              </a:ext>
            </a:extLst>
          </p:cNvPr>
          <p:cNvSpPr txBox="1"/>
          <p:nvPr/>
        </p:nvSpPr>
        <p:spPr>
          <a:xfrm>
            <a:off x="361107" y="938140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/>
              <a:t>Cách </a:t>
            </a:r>
            <a:r>
              <a:rPr lang="en-US" b="1" err="1"/>
              <a:t>xây</a:t>
            </a:r>
            <a:r>
              <a:rPr lang="en-US" b="1"/>
              <a:t> </a:t>
            </a:r>
            <a:r>
              <a:rPr lang="en-US" b="1" err="1"/>
              <a:t>dựng</a:t>
            </a:r>
            <a:endParaRPr lang="en-US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46EE7B-4D16-7BA2-7E30-B7E8E7E8A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776" y="1492122"/>
            <a:ext cx="6730448" cy="25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747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AA2E578B-6878-5292-78E1-FCC67C309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AE85B3AF-3600-941C-D4CE-50552F5801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err="1">
                <a:latin typeface="Arial"/>
                <a:cs typeface="Arial"/>
              </a:rPr>
              <a:t>Thực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nghiệm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32BB3826-9AAE-7C9E-DCC8-8E5EF61ED44B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 err="1">
                <a:latin typeface="Arial"/>
                <a:cs typeface="Arial"/>
              </a:rPr>
              <a:t>Bộ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dữ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liệu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ViNewsCheck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E7AA2-0652-381A-83BD-B65077E2F5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F6100FE-9EFA-4849-5371-2EB6EC8EB8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22</a:t>
            </a:fld>
            <a:r>
              <a:rPr lang="en-US">
                <a:latin typeface="Arial"/>
              </a:rPr>
              <a:t>/37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2265D3-F5CE-C44C-9636-6ACD0097D85A}"/>
              </a:ext>
            </a:extLst>
          </p:cNvPr>
          <p:cNvSpPr txBox="1"/>
          <p:nvPr/>
        </p:nvSpPr>
        <p:spPr>
          <a:xfrm>
            <a:off x="361107" y="938140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err="1"/>
              <a:t>Thống</a:t>
            </a:r>
            <a:r>
              <a:rPr lang="en-US" b="1"/>
              <a:t> </a:t>
            </a:r>
            <a:r>
              <a:rPr lang="en-US" b="1" err="1"/>
              <a:t>kê</a:t>
            </a:r>
            <a:r>
              <a:rPr lang="en-US" b="1"/>
              <a:t> </a:t>
            </a:r>
            <a:r>
              <a:rPr lang="en-US" b="1" err="1"/>
              <a:t>dữ</a:t>
            </a:r>
            <a:r>
              <a:rPr lang="en-US" b="1"/>
              <a:t> </a:t>
            </a:r>
            <a:r>
              <a:rPr lang="en-US" b="1" err="1"/>
              <a:t>liệu</a:t>
            </a:r>
            <a:endParaRPr lang="en-US" b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E1AC40-D688-3AA0-D79E-EFB06D929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737" y="1718178"/>
            <a:ext cx="5064526" cy="218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13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CAF4238E-F78C-3F74-09FC-7D95B6B2D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A0041790-6595-F6B4-7565-8320B95514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err="1">
                <a:latin typeface="Arial"/>
                <a:cs typeface="Arial"/>
              </a:rPr>
              <a:t>Thực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nghiệm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1E5C391B-71F6-BA2E-1F56-DBAB46DCD9B4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 err="1">
                <a:latin typeface="Arial"/>
                <a:cs typeface="Arial"/>
              </a:rPr>
              <a:t>Bộ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dữ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liệu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ViNewsCheck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D38A5-3946-2670-746D-69EF9BB279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4F9631F-CA65-A0EB-9F30-AD796A9D67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23</a:t>
            </a:fld>
            <a:r>
              <a:rPr lang="en-US">
                <a:latin typeface="Arial"/>
              </a:rPr>
              <a:t>/37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332A3E-3050-D9BC-EBF8-CB313B3960BC}"/>
              </a:ext>
            </a:extLst>
          </p:cNvPr>
          <p:cNvSpPr txBox="1"/>
          <p:nvPr/>
        </p:nvSpPr>
        <p:spPr>
          <a:xfrm>
            <a:off x="361107" y="938140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err="1"/>
              <a:t>Ví</a:t>
            </a:r>
            <a:r>
              <a:rPr lang="en-US" b="1"/>
              <a:t> </a:t>
            </a:r>
            <a:r>
              <a:rPr lang="en-US" b="1" err="1"/>
              <a:t>dụ</a:t>
            </a:r>
            <a:endParaRPr lang="en-US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ED8CB8-65D6-8E47-55AB-7CF05DBFC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58" y="1587336"/>
            <a:ext cx="3894693" cy="23301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1C601A-DF19-1CBD-A92F-00D175912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587337"/>
            <a:ext cx="3927086" cy="233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A6A71580-48AE-7F07-CB9F-D47E71154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30935BA1-12A5-9924-0851-9BE4846468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err="1">
                <a:latin typeface="Arial"/>
                <a:cs typeface="Arial"/>
              </a:rPr>
              <a:t>Thực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nghiệm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BF09E7-4B21-D858-2E91-4EE1C37BF260}"/>
              </a:ext>
            </a:extLst>
          </p:cNvPr>
          <p:cNvSpPr txBox="1"/>
          <p:nvPr/>
        </p:nvSpPr>
        <p:spPr>
          <a:xfrm>
            <a:off x="361107" y="938140"/>
            <a:ext cx="821339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>
                <a:ea typeface="Ebrima" panose="02000000000000000000" pitchFamily="2" charset="0"/>
              </a:rPr>
              <a:t>Claim Detection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b="1">
              <a:ea typeface="Ebrima" panose="02000000000000000000" pitchFamily="2" charset="0"/>
            </a:endParaRP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2566E20F-61FC-6DBD-08CD-363E217E7BEC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>
                <a:latin typeface="Arial"/>
                <a:cs typeface="Arial"/>
              </a:rPr>
              <a:t>Các </a:t>
            </a:r>
            <a:r>
              <a:rPr lang="en-US" sz="1600" err="1">
                <a:latin typeface="Arial"/>
                <a:cs typeface="Arial"/>
              </a:rPr>
              <a:t>độ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đo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sử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dụng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88D25-7A53-0CD7-0AA7-C289DAFD0D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71764E1B-D1AC-7C27-4955-53EDF88C1B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24</a:t>
            </a:fld>
            <a:r>
              <a:rPr lang="en-US">
                <a:latin typeface="Arial"/>
              </a:rPr>
              <a:t>/37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A39281-8310-A25B-FAA0-1E6FD08E019F}"/>
              </a:ext>
            </a:extLst>
          </p:cNvPr>
          <p:cNvSpPr txBox="1"/>
          <p:nvPr/>
        </p:nvSpPr>
        <p:spPr>
          <a:xfrm>
            <a:off x="361107" y="2289494"/>
            <a:ext cx="4782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>
                <a:ea typeface="Ebrima" panose="02000000000000000000" pitchFamily="2" charset="0"/>
              </a:rPr>
              <a:t>Accuracy-based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268EFD0-3368-6025-48E1-7F6B83F4FE78}"/>
                  </a:ext>
                </a:extLst>
              </p:cNvPr>
              <p:cNvSpPr txBox="1"/>
              <p:nvPr/>
            </p:nvSpPr>
            <p:spPr>
              <a:xfrm>
                <a:off x="569494" y="1248697"/>
                <a:ext cx="7260963" cy="886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𝑃𝑟𝑒𝑐𝑖𝑠𝑖𝑜𝑛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@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𝐾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𝐾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  <m:t>𝐾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=1</m:t>
                    </m:r>
                  </m:oMath>
                </a14:m>
                <a:r>
                  <a:rPr lang="en-US" dirty="0">
                    <a:latin typeface="Epilogue" panose="020B0604020202020204" charset="0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Epilogue" panose="020B0604020202020204" charset="0"/>
                    <a:ea typeface="Ebrima" panose="02000000000000000000" pitchFamily="2" charset="0"/>
                    <a:cs typeface="Ebrima" panose="02000000000000000000" pitchFamily="2" charset="0"/>
                  </a:rPr>
                  <a:t>nếu</a:t>
                </a:r>
                <a:r>
                  <a:rPr lang="en-US" dirty="0">
                    <a:latin typeface="Epilogue" panose="020B0604020202020204" charset="0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Epilogue" panose="020B0604020202020204" charset="0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Epilogue" panose="020B0604020202020204" charset="0"/>
                    <a:ea typeface="Ebrima" panose="02000000000000000000" pitchFamily="2" charset="0"/>
                    <a:cs typeface="Ebrima" panose="02000000000000000000" pitchFamily="2" charset="0"/>
                  </a:rPr>
                  <a:t>thuộc</a:t>
                </a:r>
                <a:r>
                  <a:rPr lang="en-US" dirty="0">
                    <a:latin typeface="Epilogue" panose="020B0604020202020204" charset="0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Epilogue" panose="020B0604020202020204" charset="0"/>
                    <a:ea typeface="Ebrima" panose="02000000000000000000" pitchFamily="2" charset="0"/>
                    <a:cs typeface="Ebrima" panose="02000000000000000000" pitchFamily="2" charset="0"/>
                  </a:rPr>
                  <a:t>tập</a:t>
                </a:r>
                <a:r>
                  <a:rPr lang="en-US" dirty="0">
                    <a:latin typeface="Epilogue" panose="020B0604020202020204" charset="0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dirty="0">
                    <a:latin typeface="Epilogue" panose="020B0604020202020204" charset="0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Epilogue" panose="020B0604020202020204" charset="0"/>
                    <a:ea typeface="Ebrima" panose="02000000000000000000" pitchFamily="2" charset="0"/>
                    <a:cs typeface="Ebrima" panose="02000000000000000000" pitchFamily="2" charset="0"/>
                  </a:rPr>
                  <a:t>và</a:t>
                </a:r>
                <a:r>
                  <a:rPr lang="en-US" dirty="0">
                    <a:latin typeface="Epilogue" panose="020B0604020202020204" charset="0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Epilogue" panose="020B0604020202020204" charset="0"/>
                    <a:ea typeface="Ebrima" panose="02000000000000000000" pitchFamily="2" charset="0"/>
                    <a:cs typeface="Ebrima" panose="02000000000000000000" pitchFamily="2" charset="0"/>
                  </a:rPr>
                  <a:t>ngược</a:t>
                </a:r>
                <a:r>
                  <a:rPr lang="en-US" dirty="0">
                    <a:latin typeface="Epilogue" panose="020B0604020202020204" charset="0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r>
                  <a:rPr lang="en-US" dirty="0" err="1">
                    <a:latin typeface="Epilogue" panose="020B0604020202020204" charset="0"/>
                    <a:ea typeface="Ebrima" panose="02000000000000000000" pitchFamily="2" charset="0"/>
                    <a:cs typeface="Ebrima" panose="02000000000000000000" pitchFamily="2" charset="0"/>
                  </a:rPr>
                  <a:t>lại</a:t>
                </a:r>
                <a:endParaRPr lang="en-US" dirty="0">
                  <a:latin typeface="Epilogue" panose="020B0604020202020204" charset="0"/>
                  <a:ea typeface="Ebrima" panose="02000000000000000000" pitchFamily="2" charset="0"/>
                  <a:cs typeface="Ebrima" panose="02000000000000000000" pitchFamily="2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𝑐h𝑟𝐹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</m:ctrlPr>
                          </m:sSup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b="0" i="1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fPr>
                      <m:num>
                        <m:r>
                          <a:rPr lang="en-US" b="0" i="1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𝑐h𝑟𝑃</m:t>
                        </m:r>
                        <m:r>
                          <a:rPr lang="en-US" b="0" i="1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⋅</m:t>
                        </m:r>
                        <m:r>
                          <a:rPr lang="en-US" b="0" i="1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𝑐h𝑟𝑅</m:t>
                        </m:r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𝑐h𝑟𝑃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𝑐h𝑟𝑅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=1</m:t>
                    </m:r>
                  </m:oMath>
                </a14:m>
                <a:endParaRPr lang="en-US" dirty="0">
                  <a:latin typeface="Epilogue" panose="020B0604020202020204" charset="0"/>
                  <a:ea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268EFD0-3368-6025-48E1-7F6B83F4F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494" y="1248697"/>
                <a:ext cx="7260963" cy="886909"/>
              </a:xfrm>
              <a:prstGeom prst="rect">
                <a:avLst/>
              </a:prstGeom>
              <a:blipFill>
                <a:blip r:embed="rId3"/>
                <a:stretch>
                  <a:fillRect l="-84" t="-30345" b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41800D-4ECA-3C64-995A-C25648C45B47}"/>
                  </a:ext>
                </a:extLst>
              </p:cNvPr>
              <p:cNvSpPr txBox="1"/>
              <p:nvPr/>
            </p:nvSpPr>
            <p:spPr>
              <a:xfrm>
                <a:off x="569493" y="2600687"/>
                <a:ext cx="7260963" cy="13756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𝐴𝑐𝑐𝑢𝑟𝑎𝑐𝑦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𝑁𝑢𝑚𝑏𝑒𝑟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𝑜𝑓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𝐶𝑜𝑟𝑟𝑒𝑐𝑡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𝑃𝑟𝑒𝑑𝑖𝑐𝑡𝑖𝑜𝑛𝑠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𝑇𝑜𝑡𝑎𝑙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𝑁𝑢𝑚𝑏𝑒𝑟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𝑜𝑓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𝑃𝑟𝑒𝑑𝑖𝑐𝑡𝑖𝑜𝑛𝑠</m:t>
                        </m:r>
                      </m:den>
                    </m:f>
                  </m:oMath>
                </a14:m>
                <a:endParaRPr lang="en-US">
                  <a:latin typeface="Epilogue" panose="020B0604020202020204" charset="0"/>
                  <a:ea typeface="Ebrima" panose="02000000000000000000" pitchFamily="2" charset="0"/>
                  <a:cs typeface="Ebrima" panose="02000000000000000000" pitchFamily="2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𝛽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⋅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𝑅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)+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𝑅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𝑇𝑃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𝑇𝑃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𝐹𝑃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𝑇𝑃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𝑇𝑃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𝐹𝑁</m:t>
                        </m:r>
                      </m:den>
                    </m:f>
                  </m:oMath>
                </a14:m>
                <a:endParaRPr lang="en-US">
                  <a:latin typeface="Epilogue" panose="020B0604020202020204" charset="0"/>
                  <a:ea typeface="Ebrima" panose="02000000000000000000" pitchFamily="2" charset="0"/>
                  <a:cs typeface="Ebrima" panose="02000000000000000000" pitchFamily="2" charset="0"/>
                </a:endParaRP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𝑚𝑎𝑐𝑟𝑜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Ebrima" panose="02000000000000000000" pitchFamily="2" charset="0"/>
                        <a:cs typeface="Ebrima" panose="02000000000000000000" pitchFamily="2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Ebrima" panose="02000000000000000000" pitchFamily="2" charset="0"/>
                            <a:cs typeface="Ebrima" panose="02000000000000000000" pitchFamily="2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  <m:t>𝛽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Ebrima" panose="02000000000000000000" pitchFamily="2" charset="0"/>
                                <a:cs typeface="Ebrima" panose="02000000000000000000" pitchFamily="2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>
                  <a:latin typeface="Epilogue" panose="020B0604020202020204" charset="0"/>
                  <a:ea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41800D-4ECA-3C64-995A-C25648C45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493" y="2600687"/>
                <a:ext cx="7260963" cy="1375698"/>
              </a:xfrm>
              <a:prstGeom prst="rect">
                <a:avLst/>
              </a:prstGeom>
              <a:blipFill>
                <a:blip r:embed="rId4"/>
                <a:stretch>
                  <a:fillRect l="-84" b="-32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5454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F7877AE2-D686-6E54-90CB-2B99FAFA2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EDBAA408-25B6-EB13-1752-691F6EAB39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err="1">
                <a:latin typeface="Arial"/>
                <a:cs typeface="Arial"/>
              </a:rPr>
              <a:t>Thực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nghiệm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9CC971-A34E-BF90-923F-2080CFF35EFF}"/>
              </a:ext>
            </a:extLst>
          </p:cNvPr>
          <p:cNvSpPr txBox="1"/>
          <p:nvPr/>
        </p:nvSpPr>
        <p:spPr>
          <a:xfrm>
            <a:off x="361107" y="938140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b="1" dirty="0">
                <a:ea typeface="Ebrima" panose="02000000000000000000" pitchFamily="2" charset="0"/>
              </a:rPr>
              <a:t>Claim Detection</a:t>
            </a: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3E3EFDB1-F3FD-60B0-DAB0-A97B90014A98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 err="1">
                <a:latin typeface="Arial"/>
                <a:cs typeface="Arial"/>
              </a:rPr>
              <a:t>Nội</a:t>
            </a:r>
            <a:r>
              <a:rPr lang="en-US" sz="1600">
                <a:latin typeface="Arial"/>
                <a:cs typeface="Arial"/>
              </a:rPr>
              <a:t> dung </a:t>
            </a:r>
            <a:r>
              <a:rPr lang="en-US" sz="1600" err="1">
                <a:latin typeface="Arial"/>
                <a:cs typeface="Arial"/>
              </a:rPr>
              <a:t>thực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nghiệm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B24C5-6640-D810-966F-E391BAC1DE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98B7835-0D5C-1C65-0C5E-01D39459E0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25</a:t>
            </a:fld>
            <a:r>
              <a:rPr lang="en-US">
                <a:latin typeface="Arial"/>
              </a:rPr>
              <a:t>/37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F08D76-16A0-4E39-00B1-FF12789DED80}"/>
              </a:ext>
            </a:extLst>
          </p:cNvPr>
          <p:cNvSpPr txBox="1"/>
          <p:nvPr/>
        </p:nvSpPr>
        <p:spPr>
          <a:xfrm>
            <a:off x="542535" y="1247886"/>
            <a:ext cx="821339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err="1">
                <a:ea typeface="Ebrima" panose="02000000000000000000" pitchFamily="2" charset="0"/>
              </a:rPr>
              <a:t>Kiểm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tra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độ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chính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xác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giữa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hai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phương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pháp</a:t>
            </a:r>
            <a:r>
              <a:rPr lang="en-US">
                <a:ea typeface="Ebrima" panose="02000000000000000000" pitchFamily="2" charset="0"/>
              </a:rPr>
              <a:t> Heuristic </a:t>
            </a:r>
            <a:r>
              <a:rPr lang="en-US" err="1">
                <a:ea typeface="Ebrima" panose="02000000000000000000" pitchFamily="2" charset="0"/>
              </a:rPr>
              <a:t>và</a:t>
            </a:r>
            <a:r>
              <a:rPr lang="en-US">
                <a:ea typeface="Ebrima" panose="02000000000000000000" pitchFamily="2" charset="0"/>
              </a:rPr>
              <a:t> Transformer.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err="1">
                <a:ea typeface="Ebrima" panose="02000000000000000000" pitchFamily="2" charset="0"/>
              </a:rPr>
              <a:t>Kiểm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tra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mức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độ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ảnh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hưởng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của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cách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chọn</a:t>
            </a:r>
            <a:r>
              <a:rPr lang="en-US">
                <a:ea typeface="Ebrima" panose="02000000000000000000" pitchFamily="2" charset="0"/>
              </a:rPr>
              <a:t> factual verb.</a:t>
            </a:r>
          </a:p>
        </p:txBody>
      </p:sp>
      <p:sp>
        <p:nvSpPr>
          <p:cNvPr id="3" name="Google Shape;1103;p33">
            <a:extLst>
              <a:ext uri="{FF2B5EF4-FFF2-40B4-BE49-F238E27FC236}">
                <a16:creationId xmlns:a16="http://schemas.microsoft.com/office/drawing/2014/main" id="{F3F3B93F-6AF3-C737-4A13-CDFE44B06D44}"/>
              </a:ext>
            </a:extLst>
          </p:cNvPr>
          <p:cNvSpPr txBox="1">
            <a:spLocks/>
          </p:cNvSpPr>
          <p:nvPr/>
        </p:nvSpPr>
        <p:spPr>
          <a:xfrm>
            <a:off x="250747" y="1925500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 err="1">
                <a:latin typeface="Arial"/>
                <a:cs typeface="Arial"/>
              </a:rPr>
              <a:t>Kết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quả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thực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nghiệm</a:t>
            </a:r>
            <a:endParaRPr lang="en-US" sz="1600">
              <a:latin typeface="Arial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880F34-1E0E-3EA2-53C1-D663C3C48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467" y="2571750"/>
            <a:ext cx="6827066" cy="1582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808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83941DDD-D244-7F69-C40B-E31CFD1DC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A55B1021-D53F-4078-A44E-143CD6C5F6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err="1">
                <a:latin typeface="Arial"/>
                <a:cs typeface="Arial"/>
              </a:rPr>
              <a:t>Thực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nghiệm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0B59E861-F088-F5F9-BE2B-70C01E6BF6C3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 err="1">
                <a:latin typeface="Arial"/>
                <a:cs typeface="Arial"/>
              </a:rPr>
              <a:t>Kết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quả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thực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nghiệm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544BC-E759-91C0-72A0-F559A4F2A8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3C4694B6-F9D3-3ECC-1143-2D02CCBA90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26</a:t>
            </a:fld>
            <a:r>
              <a:rPr lang="en-US">
                <a:latin typeface="Arial"/>
              </a:rPr>
              <a:t>/37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BD6CF1-DE44-A6F4-F95C-D9CEEF5F3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032" y="464821"/>
            <a:ext cx="4323967" cy="44040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C04D112-567D-3887-3646-276F34217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65" y="2094383"/>
            <a:ext cx="4561336" cy="129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401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33E08B26-AD52-BC61-0ABB-6EE3BC8DE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0ACC38B0-FB7E-81F6-0F83-FF5C407FE5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err="1">
                <a:latin typeface="Arial"/>
                <a:cs typeface="Arial"/>
              </a:rPr>
              <a:t>Thực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nghiệm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D0FB4B-CD2B-7F77-D489-A187E5F592B0}"/>
              </a:ext>
            </a:extLst>
          </p:cNvPr>
          <p:cNvSpPr txBox="1"/>
          <p:nvPr/>
        </p:nvSpPr>
        <p:spPr>
          <a:xfrm>
            <a:off x="361107" y="938140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b="1">
                <a:ea typeface="Ebrima" panose="02000000000000000000" pitchFamily="2" charset="0"/>
              </a:rPr>
              <a:t>Document Retrieval and Evidence Selection</a:t>
            </a: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E2462039-197F-F0D5-C5C4-0F24AE76425C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 err="1">
                <a:latin typeface="Arial"/>
                <a:cs typeface="Arial"/>
              </a:rPr>
              <a:t>Nội</a:t>
            </a:r>
            <a:r>
              <a:rPr lang="en-US" sz="1600">
                <a:latin typeface="Arial"/>
                <a:cs typeface="Arial"/>
              </a:rPr>
              <a:t> dung </a:t>
            </a:r>
            <a:r>
              <a:rPr lang="en-US" sz="1600" err="1">
                <a:latin typeface="Arial"/>
                <a:cs typeface="Arial"/>
              </a:rPr>
              <a:t>thực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nghiệm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2740F-17F2-961A-F8A3-3C22C8BEEC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9758CF7-9D28-EE4E-D957-59F3EBDA44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27</a:t>
            </a:fld>
            <a:r>
              <a:rPr lang="en-US">
                <a:latin typeface="Arial"/>
              </a:rPr>
              <a:t>/37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B0DFCA-B5E1-A605-43EA-CF6C486A2BF5}"/>
              </a:ext>
            </a:extLst>
          </p:cNvPr>
          <p:cNvSpPr txBox="1"/>
          <p:nvPr/>
        </p:nvSpPr>
        <p:spPr>
          <a:xfrm>
            <a:off x="542535" y="1247886"/>
            <a:ext cx="821339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err="1">
                <a:ea typeface="Ebrima" panose="02000000000000000000" pitchFamily="2" charset="0"/>
              </a:rPr>
              <a:t>Kiểm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tra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hiệu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suất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giữa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hai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phương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pháp</a:t>
            </a:r>
            <a:r>
              <a:rPr lang="en-US">
                <a:ea typeface="Ebrima" panose="02000000000000000000" pitchFamily="2" charset="0"/>
              </a:rPr>
              <a:t> Retrieval only </a:t>
            </a:r>
            <a:r>
              <a:rPr lang="en-US" err="1">
                <a:ea typeface="Ebrima" panose="02000000000000000000" pitchFamily="2" charset="0"/>
              </a:rPr>
              <a:t>và</a:t>
            </a:r>
            <a:r>
              <a:rPr lang="en-US">
                <a:ea typeface="Ebrima" panose="02000000000000000000" pitchFamily="2" charset="0"/>
              </a:rPr>
              <a:t> Retrieval + Reranking.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err="1">
                <a:ea typeface="Ebrima" panose="02000000000000000000" pitchFamily="2" charset="0"/>
              </a:rPr>
              <a:t>Kiểm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tra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mức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độ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ảnh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hưởng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của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chỉ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số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kTop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lên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hiệu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suất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của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hai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phương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pháp</a:t>
            </a:r>
            <a:r>
              <a:rPr lang="en-US">
                <a:ea typeface="Ebrima" panose="02000000000000000000" pitchFamily="2" charset="0"/>
              </a:rPr>
              <a:t> Retrieval only </a:t>
            </a:r>
            <a:r>
              <a:rPr lang="en-US" err="1">
                <a:ea typeface="Ebrima" panose="02000000000000000000" pitchFamily="2" charset="0"/>
              </a:rPr>
              <a:t>và</a:t>
            </a:r>
            <a:r>
              <a:rPr lang="en-US">
                <a:ea typeface="Ebrima" panose="02000000000000000000" pitchFamily="2" charset="0"/>
              </a:rPr>
              <a:t> Retrieval + Reranking.</a:t>
            </a:r>
          </a:p>
        </p:txBody>
      </p:sp>
    </p:spTree>
    <p:extLst>
      <p:ext uri="{BB962C8B-B14F-4D97-AF65-F5344CB8AC3E}">
        <p14:creationId xmlns:p14="http://schemas.microsoft.com/office/powerpoint/2010/main" val="1431828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75DF97BD-687D-9A1F-ED10-BDD1F36F2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831EA5FE-A06E-DBD2-FACE-8E4442C7BB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err="1">
                <a:latin typeface="Arial"/>
                <a:cs typeface="Arial"/>
              </a:rPr>
              <a:t>Thực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nghiệm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2670B0CE-5AFB-7A43-295C-219BAC71141D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 err="1">
                <a:latin typeface="Arial"/>
                <a:cs typeface="Arial"/>
              </a:rPr>
              <a:t>Kết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quả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thực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nghiệm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EFB8C-B1D7-3C03-852B-DE65F2A133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B054233-8576-E17C-A1E0-1F44A13A07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28</a:t>
            </a:fld>
            <a:r>
              <a:rPr lang="en-US">
                <a:latin typeface="Arial"/>
              </a:rPr>
              <a:t>/37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7F8640-BD47-20CF-8FFE-FC1FCA528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472" y="1170435"/>
            <a:ext cx="6987056" cy="280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385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AB1054E2-FB02-CC1F-83DC-9248E99BE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212832BA-E073-8D21-C57F-746485BE8E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err="1">
                <a:latin typeface="Arial"/>
                <a:cs typeface="Arial"/>
              </a:rPr>
              <a:t>Thực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nghiệm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2E6B7381-6481-95AB-7BBC-47FA0DD7DE67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 err="1">
                <a:latin typeface="Arial"/>
                <a:cs typeface="Arial"/>
              </a:rPr>
              <a:t>Kết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quả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thực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nghiệm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6CAFD-4CF4-BD04-637C-B4ABBE8F06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E9757E68-8E32-2F99-686F-B561E9F433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29</a:t>
            </a:fld>
            <a:r>
              <a:rPr lang="en-US">
                <a:latin typeface="Arial"/>
              </a:rPr>
              <a:t>/37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AF08BBD-2451-A0F5-70E0-A2453AB02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746" y="1151983"/>
            <a:ext cx="5920507" cy="28395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4952C87-C17B-9B26-5D1D-7B5D9BA1B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2465" y="1063460"/>
            <a:ext cx="5959068" cy="301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856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7E241099-322A-A4B0-25CA-16E53393A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6B36A71C-4CB2-576B-3F9D-F6D4E55F93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err="1">
                <a:latin typeface="Arial"/>
                <a:cs typeface="Arial"/>
              </a:rPr>
              <a:t>Thực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nghiệm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69C8D-8EF9-5AF9-23C7-15449FFBE6BD}"/>
              </a:ext>
            </a:extLst>
          </p:cNvPr>
          <p:cNvSpPr txBox="1"/>
          <p:nvPr/>
        </p:nvSpPr>
        <p:spPr>
          <a:xfrm>
            <a:off x="361107" y="938140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b="1">
                <a:ea typeface="Ebrima" panose="02000000000000000000" pitchFamily="2" charset="0"/>
              </a:rPr>
              <a:t>Claim Verification</a:t>
            </a: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E121D2CA-865E-96AB-B9BA-011C0606BBB5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 err="1">
                <a:latin typeface="Arial"/>
                <a:cs typeface="Arial"/>
              </a:rPr>
              <a:t>Nội</a:t>
            </a:r>
            <a:r>
              <a:rPr lang="en-US" sz="1600">
                <a:latin typeface="Arial"/>
                <a:cs typeface="Arial"/>
              </a:rPr>
              <a:t> dung </a:t>
            </a:r>
            <a:r>
              <a:rPr lang="en-US" sz="1600" err="1">
                <a:latin typeface="Arial"/>
                <a:cs typeface="Arial"/>
              </a:rPr>
              <a:t>thực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nghiệm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5A139-4B9B-CDA1-820E-E4D4906F4E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61F880E-671E-9F99-4B93-A1F6D018F1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30</a:t>
            </a:fld>
            <a:r>
              <a:rPr lang="en-US">
                <a:latin typeface="Arial"/>
              </a:rPr>
              <a:t>/37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05A36-7D8B-ABE5-1123-8F67D9A5910A}"/>
              </a:ext>
            </a:extLst>
          </p:cNvPr>
          <p:cNvSpPr txBox="1"/>
          <p:nvPr/>
        </p:nvSpPr>
        <p:spPr>
          <a:xfrm>
            <a:off x="542535" y="1247886"/>
            <a:ext cx="821339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err="1">
                <a:ea typeface="Ebrima" panose="02000000000000000000" pitchFamily="2" charset="0"/>
              </a:rPr>
              <a:t>Kiểm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tra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và</a:t>
            </a:r>
            <a:r>
              <a:rPr lang="en-US">
                <a:ea typeface="Ebrima" panose="02000000000000000000" pitchFamily="2" charset="0"/>
              </a:rPr>
              <a:t> so </a:t>
            </a:r>
            <a:r>
              <a:rPr lang="en-US" err="1">
                <a:ea typeface="Ebrima" panose="02000000000000000000" pitchFamily="2" charset="0"/>
              </a:rPr>
              <a:t>sánh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hiệu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suất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của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các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mô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hình</a:t>
            </a:r>
            <a:r>
              <a:rPr lang="en-US">
                <a:ea typeface="Ebrima" panose="02000000000000000000" pitchFamily="2" charset="0"/>
              </a:rPr>
              <a:t> PLM </a:t>
            </a:r>
            <a:r>
              <a:rPr lang="en-US" err="1">
                <a:ea typeface="Ebrima" panose="02000000000000000000" pitchFamily="2" charset="0"/>
              </a:rPr>
              <a:t>trên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bộ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dữ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liệu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Vifactcheck</a:t>
            </a:r>
            <a:r>
              <a:rPr lang="en-US">
                <a:ea typeface="Ebrima" panose="02000000000000000000" pitchFamily="2" charset="0"/>
              </a:rPr>
              <a:t>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err="1">
                <a:ea typeface="Ebrima" panose="02000000000000000000" pitchFamily="2" charset="0"/>
              </a:rPr>
              <a:t>Kiểm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tra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mức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độ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ảnh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hưởng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của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chỉ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số</a:t>
            </a:r>
            <a:r>
              <a:rPr lang="en-US">
                <a:ea typeface="Ebrima" panose="02000000000000000000" pitchFamily="2" charset="0"/>
              </a:rPr>
              <a:t> Full Context Length </a:t>
            </a:r>
            <a:r>
              <a:rPr lang="en-US" err="1">
                <a:ea typeface="Ebrima" panose="02000000000000000000" pitchFamily="2" charset="0"/>
              </a:rPr>
              <a:t>lên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hiệu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suất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của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các</a:t>
            </a:r>
            <a:r>
              <a:rPr lang="en-US">
                <a:ea typeface="Ebrima" panose="02000000000000000000" pitchFamily="2" charset="0"/>
              </a:rPr>
              <a:t> PLM.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err="1">
                <a:ea typeface="Ebrima" panose="02000000000000000000" pitchFamily="2" charset="0"/>
              </a:rPr>
              <a:t>Kiểm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tra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mức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độ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ảnh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hưởng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của</a:t>
            </a:r>
            <a:r>
              <a:rPr lang="en-US">
                <a:ea typeface="Ebrima" panose="02000000000000000000" pitchFamily="2" charset="0"/>
              </a:rPr>
              <a:t> Evidence Quality </a:t>
            </a:r>
            <a:r>
              <a:rPr lang="en-US" err="1">
                <a:ea typeface="Ebrima" panose="02000000000000000000" pitchFamily="2" charset="0"/>
              </a:rPr>
              <a:t>lên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hiệu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suất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của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các</a:t>
            </a:r>
            <a:r>
              <a:rPr lang="en-US">
                <a:ea typeface="Ebrima" panose="02000000000000000000" pitchFamily="2" charset="0"/>
              </a:rPr>
              <a:t> PLM.</a:t>
            </a:r>
          </a:p>
        </p:txBody>
      </p:sp>
    </p:spTree>
    <p:extLst>
      <p:ext uri="{BB962C8B-B14F-4D97-AF65-F5344CB8AC3E}">
        <p14:creationId xmlns:p14="http://schemas.microsoft.com/office/powerpoint/2010/main" val="964830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C6C935E4-4092-77C3-646C-97022D66C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A98D1F35-20B2-9609-D30C-A73C764B8B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err="1">
                <a:latin typeface="Arial"/>
                <a:cs typeface="Arial"/>
              </a:rPr>
              <a:t>Thực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nghiệm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927AEE5E-BCE5-0C80-9A59-4DE76D4F7BDB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 err="1">
                <a:latin typeface="Arial"/>
                <a:cs typeface="Arial"/>
              </a:rPr>
              <a:t>Kết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quả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thực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nghiệm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8CE01-219A-6DDF-C628-B7CF61FEA8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6B5F2ABD-C842-9612-76B7-9B60435F32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31</a:t>
            </a:fld>
            <a:r>
              <a:rPr lang="en-US">
                <a:latin typeface="Arial"/>
              </a:rPr>
              <a:t>/37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95B726-6DFC-101C-DEEA-89BD7469E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752" y="1068292"/>
            <a:ext cx="5868496" cy="300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378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C219AF9C-FC10-E879-3104-18D85CCB0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A12D20B3-0345-0E68-CB78-570BF9EB92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err="1">
                <a:latin typeface="Arial"/>
                <a:cs typeface="Arial"/>
              </a:rPr>
              <a:t>Thực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nghiệm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E751FD24-9041-5BD6-C5F5-763D7AFF5006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 err="1">
                <a:latin typeface="Arial"/>
                <a:cs typeface="Arial"/>
              </a:rPr>
              <a:t>Kết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quả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thực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nghiệm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BF72F-D89C-BE3E-E151-B7C700CE82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BD2C18D1-7A39-8959-6489-FD29BB80C5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32</a:t>
            </a:fld>
            <a:r>
              <a:rPr lang="en-US">
                <a:latin typeface="Arial"/>
              </a:rPr>
              <a:t>/37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E339BF-B156-9986-3C99-BB2674E5F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528" y="985299"/>
            <a:ext cx="5974944" cy="317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96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29D295DD-1587-590D-FCE4-630769DE5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BC181AC5-56A3-23D5-A13C-01AEDFC1E7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err="1">
                <a:latin typeface="Arial"/>
                <a:cs typeface="Arial"/>
              </a:rPr>
              <a:t>Thực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nghiệm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2BD519C7-7CE9-7840-4E67-CBCA78243B43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 err="1">
                <a:latin typeface="Arial"/>
                <a:cs typeface="Arial"/>
              </a:rPr>
              <a:t>Kết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quả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thực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nghiệm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9EE06-5606-05D2-643F-87CAB342BB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84CA5236-B2BA-E2D2-9053-1F70CC1520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33</a:t>
            </a:fld>
            <a:r>
              <a:rPr lang="en-US">
                <a:latin typeface="Arial"/>
              </a:rPr>
              <a:t>/37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FD929B-2C7F-4EBA-4B02-F96C4BCB3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914" y="1031918"/>
            <a:ext cx="5978171" cy="30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705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EAF9EA96-54DA-92E5-0B39-977D44CC8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F598CEF4-4335-2822-722E-D319EFE2CC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err="1">
                <a:latin typeface="Arial"/>
                <a:cs typeface="Arial"/>
              </a:rPr>
              <a:t>Thực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nghiệm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805EE1-24A3-B20B-32C7-2A38238E3686}"/>
              </a:ext>
            </a:extLst>
          </p:cNvPr>
          <p:cNvSpPr txBox="1"/>
          <p:nvPr/>
        </p:nvSpPr>
        <p:spPr>
          <a:xfrm>
            <a:off x="361107" y="938140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b="1">
                <a:ea typeface="Ebrima" panose="02000000000000000000" pitchFamily="2" charset="0"/>
              </a:rPr>
              <a:t>Document Retrieval + Evidence Selection</a:t>
            </a: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480148E5-7B3F-AD47-5AE6-2E8F14702ED9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 err="1">
                <a:latin typeface="Arial"/>
                <a:cs typeface="Arial"/>
              </a:rPr>
              <a:t>Nội</a:t>
            </a:r>
            <a:r>
              <a:rPr lang="en-US" sz="1600">
                <a:latin typeface="Arial"/>
                <a:cs typeface="Arial"/>
              </a:rPr>
              <a:t> dung </a:t>
            </a:r>
            <a:r>
              <a:rPr lang="en-US" sz="1600" err="1">
                <a:latin typeface="Arial"/>
                <a:cs typeface="Arial"/>
              </a:rPr>
              <a:t>thực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nghiệm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EFE6D-DA61-DD00-2E5F-4A1E7DBD6F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FC2B372-7BAB-CB1A-6836-83F8EABA49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34</a:t>
            </a:fld>
            <a:r>
              <a:rPr lang="en-US">
                <a:latin typeface="Arial"/>
              </a:rPr>
              <a:t>/37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8250EF-E1DE-2CA3-EC51-E3D2E6F3B9F8}"/>
              </a:ext>
            </a:extLst>
          </p:cNvPr>
          <p:cNvSpPr txBox="1"/>
          <p:nvPr/>
        </p:nvSpPr>
        <p:spPr>
          <a:xfrm>
            <a:off x="542535" y="1247886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err="1">
                <a:ea typeface="Ebrima" panose="02000000000000000000" pitchFamily="2" charset="0"/>
              </a:rPr>
              <a:t>Kiểm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tra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hiệu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suất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của</a:t>
            </a:r>
            <a:r>
              <a:rPr lang="en-US">
                <a:ea typeface="Ebrima" panose="02000000000000000000" pitchFamily="2" charset="0"/>
              </a:rPr>
              <a:t> module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184B88-6662-F795-9BC4-7B561914DC54}"/>
              </a:ext>
            </a:extLst>
          </p:cNvPr>
          <p:cNvSpPr txBox="1"/>
          <p:nvPr/>
        </p:nvSpPr>
        <p:spPr>
          <a:xfrm>
            <a:off x="542535" y="2486868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err="1">
                <a:ea typeface="Ebrima" panose="02000000000000000000" pitchFamily="2" charset="0"/>
              </a:rPr>
              <a:t>kTop</a:t>
            </a:r>
            <a:r>
              <a:rPr lang="en-US">
                <a:ea typeface="Ebrima" panose="02000000000000000000" pitchFamily="2" charset="0"/>
              </a:rPr>
              <a:t>: 3 (Document Retrieval), 10 (Evidence Selection)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0FE5E6-E50C-CE4A-E404-2DD719BA3161}"/>
              </a:ext>
            </a:extLst>
          </p:cNvPr>
          <p:cNvSpPr txBox="1"/>
          <p:nvPr/>
        </p:nvSpPr>
        <p:spPr>
          <a:xfrm>
            <a:off x="361107" y="1561568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buFont typeface="+mj-lt"/>
              <a:buAutoNum type="arabicPeriod" startAt="2"/>
            </a:pPr>
            <a:r>
              <a:rPr lang="en-US" b="1">
                <a:ea typeface="Ebrima" panose="02000000000000000000" pitchFamily="2" charset="0"/>
              </a:rPr>
              <a:t>Retrieval Modules + Claim Verification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9F0E84-6EDC-3389-D44B-94A66D205432}"/>
              </a:ext>
            </a:extLst>
          </p:cNvPr>
          <p:cNvSpPr txBox="1"/>
          <p:nvPr/>
        </p:nvSpPr>
        <p:spPr>
          <a:xfrm>
            <a:off x="542535" y="1871314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err="1">
                <a:ea typeface="Ebrima" panose="02000000000000000000" pitchFamily="2" charset="0"/>
              </a:rPr>
              <a:t>Kiểm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tra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hiệu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suất</a:t>
            </a:r>
            <a:r>
              <a:rPr lang="en-US">
                <a:ea typeface="Ebrima" panose="02000000000000000000" pitchFamily="2" charset="0"/>
              </a:rPr>
              <a:t> </a:t>
            </a:r>
            <a:r>
              <a:rPr lang="en-US" err="1">
                <a:ea typeface="Ebrima" panose="02000000000000000000" pitchFamily="2" charset="0"/>
              </a:rPr>
              <a:t>của</a:t>
            </a:r>
            <a:r>
              <a:rPr lang="en-US">
                <a:ea typeface="Ebrima" panose="02000000000000000000" pitchFamily="2" charset="0"/>
              </a:rPr>
              <a:t> module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4C643-E257-9089-3B8F-9D7FCF1359D0}"/>
              </a:ext>
            </a:extLst>
          </p:cNvPr>
          <p:cNvSpPr txBox="1"/>
          <p:nvPr/>
        </p:nvSpPr>
        <p:spPr>
          <a:xfrm>
            <a:off x="361107" y="2179091"/>
            <a:ext cx="8213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b="1">
                <a:ea typeface="Ebrima" panose="02000000000000000000" pitchFamily="2" charset="0"/>
              </a:rPr>
              <a:t>Tham </a:t>
            </a:r>
            <a:r>
              <a:rPr lang="en-US" b="1" err="1">
                <a:ea typeface="Ebrima" panose="02000000000000000000" pitchFamily="2" charset="0"/>
              </a:rPr>
              <a:t>số</a:t>
            </a:r>
            <a:r>
              <a:rPr lang="en-US" b="1">
                <a:ea typeface="Ebrima" panose="02000000000000000000" pitchFamily="2" charset="0"/>
              </a:rPr>
              <a:t> </a:t>
            </a:r>
            <a:r>
              <a:rPr lang="en-US" b="1" err="1">
                <a:ea typeface="Ebrima" panose="02000000000000000000" pitchFamily="2" charset="0"/>
              </a:rPr>
              <a:t>được</a:t>
            </a:r>
            <a:r>
              <a:rPr lang="en-US" b="1">
                <a:ea typeface="Ebrima" panose="02000000000000000000" pitchFamily="2" charset="0"/>
              </a:rPr>
              <a:t> </a:t>
            </a:r>
            <a:r>
              <a:rPr lang="en-US" b="1" err="1">
                <a:ea typeface="Ebrima" panose="02000000000000000000" pitchFamily="2" charset="0"/>
              </a:rPr>
              <a:t>thiết</a:t>
            </a:r>
            <a:r>
              <a:rPr lang="en-US" b="1">
                <a:ea typeface="Ebrima" panose="02000000000000000000" pitchFamily="2" charset="0"/>
              </a:rPr>
              <a:t> </a:t>
            </a:r>
            <a:r>
              <a:rPr lang="en-US" b="1" err="1">
                <a:ea typeface="Ebrima" panose="02000000000000000000" pitchFamily="2" charset="0"/>
              </a:rPr>
              <a:t>lập</a:t>
            </a:r>
            <a:endParaRPr lang="en-US" b="1">
              <a:ea typeface="Ebrima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542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F0F1DF5A-A122-C15D-EBC3-60433755D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0A61153B-E92B-DCE7-4933-3F2B0EBB91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err="1">
                <a:latin typeface="Arial"/>
                <a:cs typeface="Arial"/>
              </a:rPr>
              <a:t>Thực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nghiệm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CD2FFD96-D2F7-775D-3E15-BE128C421C37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 err="1">
                <a:latin typeface="Arial"/>
                <a:cs typeface="Arial"/>
              </a:rPr>
              <a:t>Kết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quả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thực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nghiệm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E43E5-9E2A-FBA6-CF9E-7F76230631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D607E6D4-F3BA-21F5-C698-4EC0B5C6B3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35</a:t>
            </a:fld>
            <a:r>
              <a:rPr lang="en-US">
                <a:latin typeface="Arial"/>
              </a:rPr>
              <a:t>/37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4A5B6F-8C57-C289-2BCA-ED0B89976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63" y="1475834"/>
            <a:ext cx="7631073" cy="219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654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15C5DCEA-4BA0-AF32-457B-74F710548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C82215A6-A718-2204-E1E1-A01DC406A1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err="1">
                <a:latin typeface="Arial"/>
                <a:cs typeface="Arial"/>
              </a:rPr>
              <a:t>Thực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nghiệm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4" name="Google Shape;1103;p33">
            <a:extLst>
              <a:ext uri="{FF2B5EF4-FFF2-40B4-BE49-F238E27FC236}">
                <a16:creationId xmlns:a16="http://schemas.microsoft.com/office/drawing/2014/main" id="{010F1F53-C03C-7373-F983-637EFFB4AAEA}"/>
              </a:ext>
            </a:extLst>
          </p:cNvPr>
          <p:cNvSpPr txBox="1">
            <a:spLocks/>
          </p:cNvSpPr>
          <p:nvPr/>
        </p:nvSpPr>
        <p:spPr>
          <a:xfrm>
            <a:off x="250747" y="464821"/>
            <a:ext cx="3495001" cy="47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en-US" sz="1600" err="1">
                <a:latin typeface="Arial"/>
                <a:cs typeface="Arial"/>
              </a:rPr>
              <a:t>Kết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quả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thực</a:t>
            </a:r>
            <a:r>
              <a:rPr lang="en-US" sz="1600">
                <a:latin typeface="Arial"/>
                <a:cs typeface="Arial"/>
              </a:rPr>
              <a:t> </a:t>
            </a:r>
            <a:r>
              <a:rPr lang="en-US" sz="1600" err="1">
                <a:latin typeface="Arial"/>
                <a:cs typeface="Arial"/>
              </a:rPr>
              <a:t>nghiệm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DA23B-7303-C5E8-CE92-5BD6FC7E31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9545057E-86FA-7DD4-D843-7317DE00FC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36</a:t>
            </a:fld>
            <a:r>
              <a:rPr lang="en-US">
                <a:latin typeface="Arial"/>
              </a:rPr>
              <a:t>/37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62AB9F-E5A6-F23A-2094-A38D79BFC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225" y="1054875"/>
            <a:ext cx="6305550" cy="30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846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>
          <a:extLst>
            <a:ext uri="{FF2B5EF4-FFF2-40B4-BE49-F238E27FC236}">
              <a16:creationId xmlns:a16="http://schemas.microsoft.com/office/drawing/2014/main" id="{7E317791-FBDC-958F-30EE-42F2E93CB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02342F-E91D-16A5-B3ED-81D5035728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086600" y="4868863"/>
            <a:ext cx="2057400" cy="274637"/>
          </a:xfrm>
        </p:spPr>
        <p:txBody>
          <a:bodyPr/>
          <a:lstStyle/>
          <a:p>
            <a:r>
              <a:rPr lang="en-US">
                <a:latin typeface="Arial"/>
              </a:rPr>
              <a:t> Trang </a:t>
            </a:r>
            <a:fld id="{5C6D44A2-FB5A-4C32-BB14-95F7E6846750}" type="slidenum">
              <a:rPr lang="en-US" dirty="0" smtClean="0">
                <a:latin typeface="Arial"/>
              </a:rPr>
              <a:pPr/>
              <a:t>37</a:t>
            </a:fld>
            <a:r>
              <a:rPr lang="en-US">
                <a:latin typeface="Arial"/>
              </a:rPr>
              <a:t>/37</a:t>
            </a:r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A3BFA38D-0D5B-2067-71FB-80261EFDFF53}"/>
              </a:ext>
            </a:extLst>
          </p:cNvPr>
          <p:cNvSpPr txBox="1">
            <a:spLocks/>
          </p:cNvSpPr>
          <p:nvPr/>
        </p:nvSpPr>
        <p:spPr>
          <a:xfrm>
            <a:off x="-51" y="110969"/>
            <a:ext cx="4308439" cy="274637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1" i="0" u="none" strike="noStrike" cap="none">
                <a:solidFill>
                  <a:schemeClr val="bg1"/>
                </a:solidFill>
                <a:latin typeface="Epilogue" panose="020B060402020202020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>
                <a:latin typeface="Arial"/>
              </a:rPr>
              <a:t>University of Science - VNUHCM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E17A6B0-0BD9-446C-BC04-2BFC962FE7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Truth Sleuths</a:t>
            </a:r>
            <a:endParaRPr lang="en-US" b="1">
              <a:latin typeface="Arial"/>
            </a:endParaRPr>
          </a:p>
        </p:txBody>
      </p:sp>
      <p:sp>
        <p:nvSpPr>
          <p:cNvPr id="2" name="Google Shape;755;p28">
            <a:extLst>
              <a:ext uri="{FF2B5EF4-FFF2-40B4-BE49-F238E27FC236}">
                <a16:creationId xmlns:a16="http://schemas.microsoft.com/office/drawing/2014/main" id="{96CE6A68-6858-FD16-4C7B-19C84C54CA41}"/>
              </a:ext>
            </a:extLst>
          </p:cNvPr>
          <p:cNvSpPr txBox="1">
            <a:spLocks/>
          </p:cNvSpPr>
          <p:nvPr/>
        </p:nvSpPr>
        <p:spPr>
          <a:xfrm>
            <a:off x="713250" y="2567940"/>
            <a:ext cx="7717500" cy="1021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2400" b="1" i="0" u="none" strike="noStrike" cap="none">
                <a:solidFill>
                  <a:schemeClr val="bg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pPr algn="ctr"/>
            <a:r>
              <a:rPr lang="en-US" sz="5400">
                <a:solidFill>
                  <a:srgbClr val="0070C0"/>
                </a:solidFill>
                <a:latin typeface="Arial"/>
                <a:cs typeface="Arial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898503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ultimedia Software Pitch Deck by Slidesgo">
  <a:themeElements>
    <a:clrScheme name="Custom 1">
      <a:dk1>
        <a:sysClr val="windowText" lastClr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/>
      <a:lstStyle>
        <a:defPPr algn="l">
          <a:defRPr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845fe17-0817-4ef9-96bc-9199a3d73ab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1C697862BC5E40A1558EFFD2E56BC8" ma:contentTypeVersion="15" ma:contentTypeDescription="Create a new document." ma:contentTypeScope="" ma:versionID="16b852bbebdc2e65fab18518ed66886d">
  <xsd:schema xmlns:xsd="http://www.w3.org/2001/XMLSchema" xmlns:xs="http://www.w3.org/2001/XMLSchema" xmlns:p="http://schemas.microsoft.com/office/2006/metadata/properties" xmlns:ns3="9845fe17-0817-4ef9-96bc-9199a3d73abc" xmlns:ns4="b9b855bf-7959-4fd5-b596-e8b826bf4994" targetNamespace="http://schemas.microsoft.com/office/2006/metadata/properties" ma:root="true" ma:fieldsID="e3477a50ed6e38551ebe928340b42c8f" ns3:_="" ns4:_="">
    <xsd:import namespace="9845fe17-0817-4ef9-96bc-9199a3d73abc"/>
    <xsd:import namespace="b9b855bf-7959-4fd5-b596-e8b826bf499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45fe17-0817-4ef9-96bc-9199a3d73a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b855bf-7959-4fd5-b596-e8b826bf499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AFD2C91-5320-4DAB-BFA0-F867FCA8DAEE}">
  <ds:schemaRefs>
    <ds:schemaRef ds:uri="9845fe17-0817-4ef9-96bc-9199a3d73abc"/>
    <ds:schemaRef ds:uri="b9b855bf-7959-4fd5-b596-e8b826bf499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F363459-8858-4964-B870-24394BA35B9A}">
  <ds:schemaRefs>
    <ds:schemaRef ds:uri="9845fe17-0817-4ef9-96bc-9199a3d73abc"/>
    <ds:schemaRef ds:uri="b9b855bf-7959-4fd5-b596-e8b826bf49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97282BB-972B-407B-B7DE-ADCBEF42554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KG-LLM</Template>
  <TotalTime>44</TotalTime>
  <Words>1731</Words>
  <Application>Microsoft Office PowerPoint</Application>
  <PresentationFormat>On-screen Show (16:9)</PresentationFormat>
  <Paragraphs>273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Nunito Light</vt:lpstr>
      <vt:lpstr>Ebrima</vt:lpstr>
      <vt:lpstr>Cambria Math</vt:lpstr>
      <vt:lpstr>Epilogue</vt:lpstr>
      <vt:lpstr>Raleway</vt:lpstr>
      <vt:lpstr>Wingdings</vt:lpstr>
      <vt:lpstr>Arial</vt:lpstr>
      <vt:lpstr>Calibri</vt:lpstr>
      <vt:lpstr>Multimedia Software Pitch Deck by Slidesgo</vt:lpstr>
      <vt:lpstr>VietFactCheck: Hệ thống kiểm chứng tin tức tiếng Việt</vt:lpstr>
      <vt:lpstr>02</vt:lpstr>
      <vt:lpstr>Giới thiệu</vt:lpstr>
      <vt:lpstr>Giới thiệu</vt:lpstr>
      <vt:lpstr>Phương pháp</vt:lpstr>
      <vt:lpstr>Phương pháp</vt:lpstr>
      <vt:lpstr>Phương pháp</vt:lpstr>
      <vt:lpstr>Phương pháp</vt:lpstr>
      <vt:lpstr>Phương pháp</vt:lpstr>
      <vt:lpstr>Phương pháp</vt:lpstr>
      <vt:lpstr>Phương pháp</vt:lpstr>
      <vt:lpstr>Phương pháp</vt:lpstr>
      <vt:lpstr>Phương pháp</vt:lpstr>
      <vt:lpstr>Phương pháp</vt:lpstr>
      <vt:lpstr>Phương pháp</vt:lpstr>
      <vt:lpstr>Thực nghiệm</vt:lpstr>
      <vt:lpstr>Thực nghiệm</vt:lpstr>
      <vt:lpstr>Thực nghiệm</vt:lpstr>
      <vt:lpstr>Thực nghiệm</vt:lpstr>
      <vt:lpstr>Thực nghiệm</vt:lpstr>
      <vt:lpstr>Thực nghiệm</vt:lpstr>
      <vt:lpstr>Thực nghiệm</vt:lpstr>
      <vt:lpstr>Thực nghiệm</vt:lpstr>
      <vt:lpstr>Thực nghiệm</vt:lpstr>
      <vt:lpstr>Thực nghiệm</vt:lpstr>
      <vt:lpstr>Thực nghiệm</vt:lpstr>
      <vt:lpstr>Thực nghiệm</vt:lpstr>
      <vt:lpstr>Thực nghiệm</vt:lpstr>
      <vt:lpstr>Thực nghiệm</vt:lpstr>
      <vt:lpstr>Thực nghiệm</vt:lpstr>
      <vt:lpstr>Thực nghiệm</vt:lpstr>
      <vt:lpstr>Thực nghiệm</vt:lpstr>
      <vt:lpstr>Thực nghiệm</vt:lpstr>
      <vt:lpstr>Thực nghiệm</vt:lpstr>
      <vt:lpstr>Thực nghiệm</vt:lpstr>
      <vt:lpstr>Thực nghiệm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VĂN LÊ BÁ THÀNH</dc:creator>
  <cp:lastModifiedBy>Doan Dang Phuong Nam (DC.RnD)</cp:lastModifiedBy>
  <cp:revision>5</cp:revision>
  <dcterms:created xsi:type="dcterms:W3CDTF">2026-01-02T13:20:06Z</dcterms:created>
  <dcterms:modified xsi:type="dcterms:W3CDTF">2026-02-09T17:06:01Z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0x010100171C697862BC5E40A1558EFFD2E56BC8</vt:lpwstr>
  </property>
</Properties>
</file>